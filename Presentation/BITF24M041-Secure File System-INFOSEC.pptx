
<file path=[Content_Types].xml><?xml version="1.0" encoding="utf-8"?>
<Types xmlns="http://schemas.openxmlformats.org/package/2006/content-types">
  <Default Extension="bin" ContentType="image/unknown"/>
  <Default Extension="fntdata" ContentType="application/x-fontdata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微软雅黑" panose="020B0503020204020204" pitchFamily="34" charset="-122"/>
      <p:regular r:id="rId15"/>
      <p:bold r:id="rId16"/>
    </p:embeddedFont>
    <p:embeddedFont>
      <p:font typeface="Liter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4695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4.ftcdn.net/90c2027490ba41af3095478b0d5f71a4a29b3060.jpg"/>
          <p:cNvPicPr>
            <a:picLocks noChangeAspect="1"/>
          </p:cNvPicPr>
          <p:nvPr/>
        </p:nvPicPr>
        <p:blipFill>
          <a:blip r:embed="rId3">
            <a:alphaModFix amt="20000"/>
          </a:blip>
          <a:srcRect l="14" r="14"/>
          <a:stretch/>
        </p:blipFill>
        <p:spPr>
          <a:xfrm>
            <a:off x="7699849" y="0"/>
            <a:ext cx="4492151" cy="2990088"/>
          </a:xfrm>
          <a:prstGeom prst="roundRect">
            <a:avLst>
              <a:gd name="adj" fmla="val 0"/>
            </a:avLst>
          </a:prstGeom>
        </p:spPr>
      </p:pic>
      <p:pic>
        <p:nvPicPr>
          <p:cNvPr id="3" name="Image 1" descr="https://kimi-web-img.moonshot.cn/img/cdn.vectorstock.com/6c8b3e87c0708713a2e06ec5f753f2d6e03f6e80.jpg"/>
          <p:cNvPicPr>
            <a:picLocks noChangeAspect="1"/>
          </p:cNvPicPr>
          <p:nvPr/>
        </p:nvPicPr>
        <p:blipFill>
          <a:blip r:embed="rId4">
            <a:alphaModFix amt="15000"/>
          </a:blip>
          <a:srcRect t="103" b="103"/>
          <a:stretch/>
        </p:blipFill>
        <p:spPr>
          <a:xfrm>
            <a:off x="0" y="5521821"/>
            <a:ext cx="2791640" cy="1526678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0"/>
          <p:cNvSpPr/>
          <p:nvPr/>
        </p:nvSpPr>
        <p:spPr>
          <a:xfrm>
            <a:off x="384175" y="827088"/>
            <a:ext cx="2101850" cy="254000"/>
          </a:xfrm>
          <a:custGeom>
            <a:avLst/>
            <a:gdLst/>
            <a:ahLst/>
            <a:cxnLst/>
            <a:rect l="l" t="t" r="r" b="b"/>
            <a:pathLst>
              <a:path w="2101850" h="254000">
                <a:moveTo>
                  <a:pt x="0" y="0"/>
                </a:moveTo>
                <a:lnTo>
                  <a:pt x="2101850" y="0"/>
                </a:lnTo>
                <a:lnTo>
                  <a:pt x="2101850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FAF8F3">
              <a:alpha val="80000"/>
            </a:srgbClr>
          </a:solidFill>
          <a:ln w="8467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1"/>
          <p:cNvSpPr/>
          <p:nvPr/>
        </p:nvSpPr>
        <p:spPr>
          <a:xfrm>
            <a:off x="381000" y="823913"/>
            <a:ext cx="2152650" cy="24765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Information Security Project Title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381000" y="1312863"/>
            <a:ext cx="11715750" cy="2143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Secure File Distribution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with Time-Limited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 Control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381000" y="3608388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381000" y="3875088"/>
            <a:ext cx="11525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Demonstrating Encryption, Authentication &amp; Time-Based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 Control for Sensitive Information Protection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387350" y="5024438"/>
            <a:ext cx="1555750" cy="1003300"/>
          </a:xfrm>
          <a:custGeom>
            <a:avLst/>
            <a:gdLst/>
            <a:ahLst/>
            <a:cxnLst/>
            <a:rect l="l" t="t" r="r" b="b"/>
            <a:pathLst>
              <a:path w="1555750" h="1003300">
                <a:moveTo>
                  <a:pt x="0" y="0"/>
                </a:moveTo>
                <a:lnTo>
                  <a:pt x="1555750" y="0"/>
                </a:lnTo>
                <a:lnTo>
                  <a:pt x="1555750" y="1003300"/>
                </a:lnTo>
                <a:lnTo>
                  <a:pt x="0" y="10033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 w="16933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46100" y="5183188"/>
            <a:ext cx="130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Submitted by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46100" y="5411788"/>
            <a:ext cx="1323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TALHA YASEEN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46100" y="5678488"/>
            <a:ext cx="130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BITF24M041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2180927" y="5221288"/>
            <a:ext cx="9525" cy="609600"/>
          </a:xfrm>
          <a:custGeom>
            <a:avLst/>
            <a:gdLst/>
            <a:ahLst/>
            <a:cxnLst/>
            <a:rect l="l" t="t" r="r" b="b"/>
            <a:pathLst>
              <a:path w="9525" h="609600">
                <a:moveTo>
                  <a:pt x="0" y="0"/>
                </a:moveTo>
                <a:lnTo>
                  <a:pt x="9525" y="0"/>
                </a:lnTo>
                <a:lnTo>
                  <a:pt x="952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2425402" y="5024438"/>
            <a:ext cx="1851025" cy="1003300"/>
          </a:xfrm>
          <a:custGeom>
            <a:avLst/>
            <a:gdLst/>
            <a:ahLst/>
            <a:cxnLst/>
            <a:rect l="l" t="t" r="r" b="b"/>
            <a:pathLst>
              <a:path w="1851025" h="1003300">
                <a:moveTo>
                  <a:pt x="0" y="0"/>
                </a:moveTo>
                <a:lnTo>
                  <a:pt x="1851025" y="0"/>
                </a:lnTo>
                <a:lnTo>
                  <a:pt x="1851025" y="1003300"/>
                </a:lnTo>
                <a:lnTo>
                  <a:pt x="0" y="10033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 w="16933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2584152" y="5183188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Course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2584152" y="5411788"/>
            <a:ext cx="161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Information Security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2584152" y="5678488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Academic Project 2026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8.alamy.com/cfa836a876c61dd6a05ed6fcdbaa0cc456137d49.jpg"/>
          <p:cNvPicPr>
            <a:picLocks noChangeAspect="1"/>
          </p:cNvPicPr>
          <p:nvPr/>
        </p:nvPicPr>
        <p:blipFill>
          <a:blip r:embed="rId3">
            <a:alphaModFix amt="10000"/>
          </a:blip>
          <a:srcRect l="39" r="39"/>
          <a:stretch/>
        </p:blipFill>
        <p:spPr>
          <a:xfrm>
            <a:off x="-1" y="0"/>
            <a:ext cx="4200761" cy="7205472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384175" y="384175"/>
            <a:ext cx="1092200" cy="254000"/>
          </a:xfrm>
          <a:custGeom>
            <a:avLst/>
            <a:gdLst/>
            <a:ahLst/>
            <a:cxnLst/>
            <a:rect l="l" t="t" r="r" b="b"/>
            <a:pathLst>
              <a:path w="1092200" h="254000">
                <a:moveTo>
                  <a:pt x="0" y="0"/>
                </a:moveTo>
                <a:lnTo>
                  <a:pt x="1092200" y="0"/>
                </a:lnTo>
                <a:lnTo>
                  <a:pt x="1092200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FAF8F3">
              <a:alpha val="80000"/>
            </a:srgbClr>
          </a:solidFill>
          <a:ln w="8467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81000" y="381000"/>
            <a:ext cx="1143000" cy="24765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79375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of Contents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1000" y="140335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87350" y="1752600"/>
            <a:ext cx="5470525" cy="1412875"/>
          </a:xfrm>
          <a:custGeom>
            <a:avLst/>
            <a:gdLst/>
            <a:ahLst/>
            <a:cxnLst/>
            <a:rect l="l" t="t" r="r" b="b"/>
            <a:pathLst>
              <a:path w="5470525" h="1412875">
                <a:moveTo>
                  <a:pt x="0" y="0"/>
                </a:moveTo>
                <a:lnTo>
                  <a:pt x="5470525" y="0"/>
                </a:lnTo>
                <a:lnTo>
                  <a:pt x="5470525" y="1412875"/>
                </a:lnTo>
                <a:lnTo>
                  <a:pt x="0" y="1412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 w="16933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4200" y="19494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2D5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27050" y="194945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270000" y="1949450"/>
            <a:ext cx="4486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70000" y="2292351"/>
            <a:ext cx="4467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security challenges in modern file sharing platforms and the risks of uncontrolled access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330950" y="1752600"/>
            <a:ext cx="5470525" cy="1412875"/>
          </a:xfrm>
          <a:custGeom>
            <a:avLst/>
            <a:gdLst/>
            <a:ahLst/>
            <a:cxnLst/>
            <a:rect l="l" t="t" r="r" b="b"/>
            <a:pathLst>
              <a:path w="5470525" h="1412875">
                <a:moveTo>
                  <a:pt x="0" y="0"/>
                </a:moveTo>
                <a:lnTo>
                  <a:pt x="5470525" y="0"/>
                </a:lnTo>
                <a:lnTo>
                  <a:pt x="5470525" y="1412875"/>
                </a:lnTo>
                <a:lnTo>
                  <a:pt x="0" y="1412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 w="16933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527800" y="19494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7D9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70650" y="194945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213600" y="1949450"/>
            <a:ext cx="4486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Purpose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213600" y="2292351"/>
            <a:ext cx="4467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Developing a secure solution with encryption and controlled access mechanisms for file distribution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87350" y="3405684"/>
            <a:ext cx="5470525" cy="1412875"/>
          </a:xfrm>
          <a:custGeom>
            <a:avLst/>
            <a:gdLst/>
            <a:ahLst/>
            <a:cxnLst/>
            <a:rect l="l" t="t" r="r" b="b"/>
            <a:pathLst>
              <a:path w="5470525" h="1412875">
                <a:moveTo>
                  <a:pt x="0" y="0"/>
                </a:moveTo>
                <a:lnTo>
                  <a:pt x="5470525" y="0"/>
                </a:lnTo>
                <a:lnTo>
                  <a:pt x="5470525" y="1412875"/>
                </a:lnTo>
                <a:lnTo>
                  <a:pt x="0" y="1412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 w="16933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84200" y="360253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27050" y="3602534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270000" y="3602534"/>
            <a:ext cx="4486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Objectives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270000" y="3945434"/>
            <a:ext cx="4467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Demonstrating core information security concepts: confidentiality, controlled access, and secure handling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330950" y="3405684"/>
            <a:ext cx="5470525" cy="1412875"/>
          </a:xfrm>
          <a:custGeom>
            <a:avLst/>
            <a:gdLst/>
            <a:ahLst/>
            <a:cxnLst/>
            <a:rect l="l" t="t" r="r" b="b"/>
            <a:pathLst>
              <a:path w="5470525" h="1412875">
                <a:moveTo>
                  <a:pt x="0" y="0"/>
                </a:moveTo>
                <a:lnTo>
                  <a:pt x="5470525" y="0"/>
                </a:lnTo>
                <a:lnTo>
                  <a:pt x="5470525" y="1412875"/>
                </a:lnTo>
                <a:lnTo>
                  <a:pt x="0" y="1412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 w="16933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527800" y="360253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2D5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470650" y="3602534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213600" y="3602534"/>
            <a:ext cx="4486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Implementation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213600" y="3945434"/>
            <a:ext cx="4467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Desktop-based system architecture with encryption, authentication, and time-based expiry mechanisms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387350" y="5058767"/>
            <a:ext cx="5470525" cy="1412875"/>
          </a:xfrm>
          <a:custGeom>
            <a:avLst/>
            <a:gdLst/>
            <a:ahLst/>
            <a:cxnLst/>
            <a:rect l="l" t="t" r="r" b="b"/>
            <a:pathLst>
              <a:path w="5470525" h="1412875">
                <a:moveTo>
                  <a:pt x="0" y="0"/>
                </a:moveTo>
                <a:lnTo>
                  <a:pt x="5470525" y="0"/>
                </a:lnTo>
                <a:lnTo>
                  <a:pt x="5470525" y="1412875"/>
                </a:lnTo>
                <a:lnTo>
                  <a:pt x="0" y="1412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 w="16933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84200" y="525561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7D9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27050" y="5255618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270000" y="5255618"/>
            <a:ext cx="4486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Framework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270000" y="5598518"/>
            <a:ext cx="4467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Comprehensive security measures including encryption protocols, access control, and data protection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330950" y="5058767"/>
            <a:ext cx="5470525" cy="1412875"/>
          </a:xfrm>
          <a:custGeom>
            <a:avLst/>
            <a:gdLst/>
            <a:ahLst/>
            <a:cxnLst/>
            <a:rect l="l" t="t" r="r" b="b"/>
            <a:pathLst>
              <a:path w="5470525" h="1412875">
                <a:moveTo>
                  <a:pt x="0" y="0"/>
                </a:moveTo>
                <a:lnTo>
                  <a:pt x="5470525" y="0"/>
                </a:lnTo>
                <a:lnTo>
                  <a:pt x="5470525" y="1412875"/>
                </a:lnTo>
                <a:lnTo>
                  <a:pt x="0" y="1412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 w="16933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6527800" y="525561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6470650" y="5255618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7213600" y="5255618"/>
            <a:ext cx="4486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Scope &amp; Outcomes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7213600" y="5598518"/>
            <a:ext cx="4467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Prototype system boundaries, expected deliverables, and foundation for future enterprise development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b17d82964f86d86d59fee25f1af3246e66e11a20.jpg"/>
          <p:cNvPicPr>
            <a:picLocks noChangeAspect="1"/>
          </p:cNvPicPr>
          <p:nvPr/>
        </p:nvPicPr>
        <p:blipFill>
          <a:blip r:embed="rId3">
            <a:alphaModFix amt="15000"/>
          </a:blip>
          <a:srcRect t="53" b="53"/>
          <a:stretch/>
        </p:blipFill>
        <p:spPr>
          <a:xfrm>
            <a:off x="7730055" y="3930848"/>
            <a:ext cx="4461945" cy="3567232"/>
          </a:xfrm>
          <a:prstGeom prst="roundRect">
            <a:avLst>
              <a:gd name="adj" fmla="val 0"/>
            </a:avLst>
          </a:prstGeom>
        </p:spPr>
      </p:pic>
      <p:sp>
        <p:nvSpPr>
          <p:cNvPr id="4" name="Text 1"/>
          <p:cNvSpPr/>
          <p:nvPr/>
        </p:nvSpPr>
        <p:spPr>
          <a:xfrm>
            <a:off x="381000" y="1946275"/>
            <a:ext cx="923925" cy="24765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2435226"/>
            <a:ext cx="117729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54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3349626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035426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81000" y="4302126"/>
            <a:ext cx="6515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the security challenges in modern file sharing and the critical need for controlled access mechanisms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03c76eae696cb8a79756b2972dd3a277542ac8c3.jpg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9753600" y="0"/>
            <a:ext cx="2438400" cy="2286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384175" y="384175"/>
            <a:ext cx="1416050" cy="254000"/>
          </a:xfrm>
          <a:custGeom>
            <a:avLst/>
            <a:gdLst/>
            <a:ahLst/>
            <a:cxnLst/>
            <a:rect l="l" t="t" r="r" b="b"/>
            <a:pathLst>
              <a:path w="1416050" h="254000">
                <a:moveTo>
                  <a:pt x="0" y="0"/>
                </a:moveTo>
                <a:lnTo>
                  <a:pt x="1416050" y="0"/>
                </a:lnTo>
                <a:lnTo>
                  <a:pt x="1416050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FAF8F3">
              <a:alpha val="80000"/>
            </a:srgbClr>
          </a:solidFill>
          <a:ln w="8467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81000" y="381000"/>
            <a:ext cx="1466850" cy="24765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 / Problem Statement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755652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File Sharing Security Gap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1000" y="1250952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87350" y="1371602"/>
            <a:ext cx="6756400" cy="2260600"/>
          </a:xfrm>
          <a:custGeom>
            <a:avLst/>
            <a:gdLst/>
            <a:ahLst/>
            <a:cxnLst/>
            <a:rect l="l" t="t" r="r" b="b"/>
            <a:pathLst>
              <a:path w="6756400" h="2260600">
                <a:moveTo>
                  <a:pt x="0" y="0"/>
                </a:moveTo>
                <a:lnTo>
                  <a:pt x="6756400" y="0"/>
                </a:lnTo>
                <a:lnTo>
                  <a:pt x="6756400" y="2260600"/>
                </a:lnTo>
                <a:lnTo>
                  <a:pt x="0" y="2260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 w="16933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12775" y="158750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8B7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84250" y="1568451"/>
            <a:ext cx="160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Challenge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84200" y="1949451"/>
            <a:ext cx="64389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 today's digital environment, files are frequently shared through email, cloud services, and messaging platforms without proper security controls. </a:t>
            </a:r>
            <a:r>
              <a:rPr lang="en-US" sz="1200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Once a file is shared, the sender often loses control over how long the recipient can access or distribute it.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84200" y="2749551"/>
            <a:ext cx="64389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lack of control creates significant vulnerabilities in data protection, as recipients may retain access indefinitely, share files with unauthorized parties, or store copies beyond the intended usage period.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87350" y="4705352"/>
            <a:ext cx="6756400" cy="1765300"/>
          </a:xfrm>
          <a:custGeom>
            <a:avLst/>
            <a:gdLst/>
            <a:ahLst/>
            <a:cxnLst/>
            <a:rect l="l" t="t" r="r" b="b"/>
            <a:pathLst>
              <a:path w="6756400" h="1765300">
                <a:moveTo>
                  <a:pt x="0" y="0"/>
                </a:moveTo>
                <a:lnTo>
                  <a:pt x="6756400" y="0"/>
                </a:lnTo>
                <a:lnTo>
                  <a:pt x="6756400" y="1765300"/>
                </a:lnTo>
                <a:lnTo>
                  <a:pt x="0" y="17653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 w="16933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12775" y="492125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3139" y="1295"/>
                </a:moveTo>
                <a:cubicBezTo>
                  <a:pt x="111264" y="446"/>
                  <a:pt x="109255" y="0"/>
                  <a:pt x="107156" y="0"/>
                </a:cubicBezTo>
                <a:cubicBezTo>
                  <a:pt x="105058" y="0"/>
                  <a:pt x="103049" y="446"/>
                  <a:pt x="101173" y="1295"/>
                </a:cubicBezTo>
                <a:lnTo>
                  <a:pt x="17100" y="36969"/>
                </a:lnTo>
                <a:cubicBezTo>
                  <a:pt x="7278" y="41121"/>
                  <a:pt x="-45" y="50810"/>
                  <a:pt x="0" y="62508"/>
                </a:cubicBezTo>
                <a:cubicBezTo>
                  <a:pt x="223" y="106799"/>
                  <a:pt x="18440" y="187836"/>
                  <a:pt x="95369" y="224671"/>
                </a:cubicBezTo>
                <a:cubicBezTo>
                  <a:pt x="102825" y="228243"/>
                  <a:pt x="111487" y="228243"/>
                  <a:pt x="118943" y="224671"/>
                </a:cubicBezTo>
                <a:cubicBezTo>
                  <a:pt x="195917" y="187836"/>
                  <a:pt x="214134" y="106799"/>
                  <a:pt x="214313" y="62508"/>
                </a:cubicBezTo>
                <a:cubicBezTo>
                  <a:pt x="214357" y="50810"/>
                  <a:pt x="207035" y="41121"/>
                  <a:pt x="197212" y="36969"/>
                </a:cubicBezTo>
                <a:lnTo>
                  <a:pt x="113139" y="1295"/>
                </a:lnTo>
                <a:close/>
                <a:moveTo>
                  <a:pt x="107156" y="57150"/>
                </a:moveTo>
                <a:cubicBezTo>
                  <a:pt x="113094" y="57150"/>
                  <a:pt x="117872" y="61927"/>
                  <a:pt x="117872" y="67866"/>
                </a:cubicBezTo>
                <a:cubicBezTo>
                  <a:pt x="117872" y="78090"/>
                  <a:pt x="130239" y="83225"/>
                  <a:pt x="137473" y="75992"/>
                </a:cubicBezTo>
                <a:cubicBezTo>
                  <a:pt x="141669" y="71795"/>
                  <a:pt x="148456" y="71795"/>
                  <a:pt x="152608" y="75992"/>
                </a:cubicBezTo>
                <a:cubicBezTo>
                  <a:pt x="156761" y="80189"/>
                  <a:pt x="156805" y="86975"/>
                  <a:pt x="152608" y="91127"/>
                </a:cubicBezTo>
                <a:cubicBezTo>
                  <a:pt x="145375" y="98361"/>
                  <a:pt x="150510" y="110728"/>
                  <a:pt x="160734" y="110728"/>
                </a:cubicBezTo>
                <a:cubicBezTo>
                  <a:pt x="166673" y="110728"/>
                  <a:pt x="171450" y="115506"/>
                  <a:pt x="171450" y="121444"/>
                </a:cubicBezTo>
                <a:cubicBezTo>
                  <a:pt x="171450" y="127382"/>
                  <a:pt x="166673" y="132159"/>
                  <a:pt x="160734" y="132159"/>
                </a:cubicBezTo>
                <a:cubicBezTo>
                  <a:pt x="150510" y="132159"/>
                  <a:pt x="145375" y="144527"/>
                  <a:pt x="152608" y="151760"/>
                </a:cubicBezTo>
                <a:cubicBezTo>
                  <a:pt x="156805" y="155957"/>
                  <a:pt x="156805" y="162744"/>
                  <a:pt x="152608" y="166896"/>
                </a:cubicBezTo>
                <a:cubicBezTo>
                  <a:pt x="148411" y="171048"/>
                  <a:pt x="141625" y="171093"/>
                  <a:pt x="137473" y="166896"/>
                </a:cubicBezTo>
                <a:cubicBezTo>
                  <a:pt x="130239" y="159663"/>
                  <a:pt x="117872" y="164797"/>
                  <a:pt x="117872" y="175022"/>
                </a:cubicBezTo>
                <a:cubicBezTo>
                  <a:pt x="117872" y="180960"/>
                  <a:pt x="113094" y="185737"/>
                  <a:pt x="107156" y="185737"/>
                </a:cubicBezTo>
                <a:cubicBezTo>
                  <a:pt x="101218" y="185737"/>
                  <a:pt x="96441" y="180960"/>
                  <a:pt x="96441" y="175022"/>
                </a:cubicBezTo>
                <a:cubicBezTo>
                  <a:pt x="96441" y="164797"/>
                  <a:pt x="84073" y="159663"/>
                  <a:pt x="76840" y="166896"/>
                </a:cubicBezTo>
                <a:cubicBezTo>
                  <a:pt x="72643" y="171093"/>
                  <a:pt x="65856" y="171093"/>
                  <a:pt x="61704" y="166896"/>
                </a:cubicBezTo>
                <a:cubicBezTo>
                  <a:pt x="57552" y="162699"/>
                  <a:pt x="57507" y="155912"/>
                  <a:pt x="61704" y="151760"/>
                </a:cubicBezTo>
                <a:cubicBezTo>
                  <a:pt x="68937" y="144527"/>
                  <a:pt x="63803" y="132159"/>
                  <a:pt x="53578" y="132159"/>
                </a:cubicBezTo>
                <a:cubicBezTo>
                  <a:pt x="47640" y="132159"/>
                  <a:pt x="42862" y="127382"/>
                  <a:pt x="42862" y="121444"/>
                </a:cubicBezTo>
                <a:cubicBezTo>
                  <a:pt x="42862" y="115506"/>
                  <a:pt x="47640" y="110728"/>
                  <a:pt x="53578" y="110728"/>
                </a:cubicBezTo>
                <a:cubicBezTo>
                  <a:pt x="63803" y="110728"/>
                  <a:pt x="68937" y="98361"/>
                  <a:pt x="61704" y="91127"/>
                </a:cubicBezTo>
                <a:cubicBezTo>
                  <a:pt x="57507" y="86931"/>
                  <a:pt x="57507" y="80144"/>
                  <a:pt x="61704" y="75992"/>
                </a:cubicBezTo>
                <a:cubicBezTo>
                  <a:pt x="65901" y="71839"/>
                  <a:pt x="72688" y="71795"/>
                  <a:pt x="76840" y="75992"/>
                </a:cubicBezTo>
                <a:cubicBezTo>
                  <a:pt x="84073" y="83225"/>
                  <a:pt x="96441" y="78090"/>
                  <a:pt x="96441" y="67866"/>
                </a:cubicBezTo>
                <a:cubicBezTo>
                  <a:pt x="96441" y="61927"/>
                  <a:pt x="101218" y="57150"/>
                  <a:pt x="107156" y="57150"/>
                </a:cubicBezTo>
                <a:close/>
                <a:moveTo>
                  <a:pt x="92869" y="117872"/>
                </a:moveTo>
                <a:cubicBezTo>
                  <a:pt x="98783" y="117872"/>
                  <a:pt x="103584" y="113070"/>
                  <a:pt x="103584" y="107156"/>
                </a:cubicBezTo>
                <a:cubicBezTo>
                  <a:pt x="103584" y="101242"/>
                  <a:pt x="98783" y="96441"/>
                  <a:pt x="92869" y="96441"/>
                </a:cubicBezTo>
                <a:cubicBezTo>
                  <a:pt x="86955" y="96441"/>
                  <a:pt x="82153" y="101242"/>
                  <a:pt x="82153" y="107156"/>
                </a:cubicBezTo>
                <a:cubicBezTo>
                  <a:pt x="82153" y="113070"/>
                  <a:pt x="86955" y="117872"/>
                  <a:pt x="92869" y="117872"/>
                </a:cubicBezTo>
                <a:close/>
                <a:moveTo>
                  <a:pt x="132159" y="135731"/>
                </a:moveTo>
                <a:cubicBezTo>
                  <a:pt x="132159" y="129817"/>
                  <a:pt x="127358" y="125016"/>
                  <a:pt x="121444" y="125016"/>
                </a:cubicBezTo>
                <a:cubicBezTo>
                  <a:pt x="115530" y="125016"/>
                  <a:pt x="110728" y="129817"/>
                  <a:pt x="110728" y="135731"/>
                </a:cubicBezTo>
                <a:cubicBezTo>
                  <a:pt x="110728" y="141645"/>
                  <a:pt x="115530" y="146447"/>
                  <a:pt x="121444" y="146447"/>
                </a:cubicBezTo>
                <a:cubicBezTo>
                  <a:pt x="127358" y="146447"/>
                  <a:pt x="132159" y="141645"/>
                  <a:pt x="132159" y="135731"/>
                </a:cubicBezTo>
                <a:close/>
              </a:path>
            </a:pathLst>
          </a:custGeom>
          <a:solidFill>
            <a:srgbClr val="2D5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84250" y="4902201"/>
            <a:ext cx="127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Risks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84200" y="535940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36600" y="5283201"/>
            <a:ext cx="3028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Unauthorized Sharing:</a:t>
            </a:r>
            <a:r>
              <a:rPr lang="en-US" sz="1200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Recipients can freely distribute files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840460" y="535940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992860" y="5283201"/>
            <a:ext cx="3028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Leakage:</a:t>
            </a:r>
            <a:r>
              <a:rPr lang="en-US" sz="1200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Sensitive information exposed beyond intended audience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84200" y="589280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36600" y="5816601"/>
            <a:ext cx="3028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Expiry Control:</a:t>
            </a:r>
            <a:r>
              <a:rPr lang="en-US" sz="1200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Files remain accessible indefinitely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840460" y="589280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3992860" y="5816601"/>
            <a:ext cx="3028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Lack of Audit Trail:</a:t>
            </a:r>
            <a:r>
              <a:rPr lang="en-US" sz="1200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 tracking of file access or distribution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382471" y="1371602"/>
            <a:ext cx="4422775" cy="2070100"/>
          </a:xfrm>
          <a:custGeom>
            <a:avLst/>
            <a:gdLst/>
            <a:ahLst/>
            <a:cxnLst/>
            <a:rect l="l" t="t" r="r" b="b"/>
            <a:pathLst>
              <a:path w="4422775" h="2070100">
                <a:moveTo>
                  <a:pt x="0" y="0"/>
                </a:moveTo>
                <a:lnTo>
                  <a:pt x="4422775" y="0"/>
                </a:lnTo>
                <a:lnTo>
                  <a:pt x="4422775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solidFill>
            <a:srgbClr val="2D5A3D"/>
          </a:solidFill>
          <a:ln w="16933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541221" y="1530351"/>
            <a:ext cx="4191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File Sharing Methods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565033" y="198755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859" y="23812"/>
                </a:moveTo>
                <a:cubicBezTo>
                  <a:pt x="8000" y="23812"/>
                  <a:pt x="0" y="31812"/>
                  <a:pt x="0" y="41672"/>
                </a:cubicBezTo>
                <a:cubicBezTo>
                  <a:pt x="0" y="47290"/>
                  <a:pt x="2642" y="52574"/>
                  <a:pt x="7144" y="55959"/>
                </a:cubicBezTo>
                <a:lnTo>
                  <a:pt x="84534" y="114002"/>
                </a:lnTo>
                <a:cubicBezTo>
                  <a:pt x="90897" y="118765"/>
                  <a:pt x="99603" y="118765"/>
                  <a:pt x="105966" y="114002"/>
                </a:cubicBezTo>
                <a:lnTo>
                  <a:pt x="183356" y="55959"/>
                </a:lnTo>
                <a:cubicBezTo>
                  <a:pt x="187858" y="52574"/>
                  <a:pt x="190500" y="47290"/>
                  <a:pt x="190500" y="41672"/>
                </a:cubicBezTo>
                <a:cubicBezTo>
                  <a:pt x="190500" y="31812"/>
                  <a:pt x="182500" y="23812"/>
                  <a:pt x="172641" y="23812"/>
                </a:cubicBezTo>
                <a:lnTo>
                  <a:pt x="17859" y="23812"/>
                </a:lnTo>
                <a:close/>
                <a:moveTo>
                  <a:pt x="0" y="72926"/>
                </a:move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166688" y="166688"/>
                </a:lnTo>
                <a:cubicBezTo>
                  <a:pt x="179822" y="166688"/>
                  <a:pt x="190500" y="156009"/>
                  <a:pt x="190500" y="142875"/>
                </a:cubicBezTo>
                <a:lnTo>
                  <a:pt x="190500" y="72926"/>
                </a:lnTo>
                <a:lnTo>
                  <a:pt x="116681" y="128290"/>
                </a:lnTo>
                <a:cubicBezTo>
                  <a:pt x="103994" y="137815"/>
                  <a:pt x="86506" y="137815"/>
                  <a:pt x="73819" y="128290"/>
                </a:cubicBezTo>
                <a:lnTo>
                  <a:pt x="0" y="72926"/>
                </a:lnTo>
                <a:close/>
              </a:path>
            </a:pathLst>
          </a:custGeom>
          <a:solidFill>
            <a:srgbClr val="FAF8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893646" y="1873251"/>
            <a:ext cx="1657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Email Attachments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893646" y="2101851"/>
            <a:ext cx="1647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AF8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access control or expiry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7553127" y="2482851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0" y="125016"/>
                </a:moveTo>
                <a:cubicBezTo>
                  <a:pt x="0" y="154595"/>
                  <a:pt x="23999" y="178594"/>
                  <a:pt x="53578" y="178594"/>
                </a:cubicBezTo>
                <a:lnTo>
                  <a:pt x="166688" y="178594"/>
                </a:lnTo>
                <a:cubicBezTo>
                  <a:pt x="192993" y="178594"/>
                  <a:pt x="214313" y="157274"/>
                  <a:pt x="214313" y="130969"/>
                </a:cubicBezTo>
                <a:cubicBezTo>
                  <a:pt x="214313" y="111770"/>
                  <a:pt x="202964" y="95213"/>
                  <a:pt x="186593" y="87697"/>
                </a:cubicBezTo>
                <a:cubicBezTo>
                  <a:pt x="189086" y="82823"/>
                  <a:pt x="190500" y="77279"/>
                  <a:pt x="190500" y="71438"/>
                </a:cubicBezTo>
                <a:cubicBezTo>
                  <a:pt x="190500" y="51718"/>
                  <a:pt x="174501" y="35719"/>
                  <a:pt x="154781" y="35719"/>
                </a:cubicBezTo>
                <a:cubicBezTo>
                  <a:pt x="148196" y="35719"/>
                  <a:pt x="142056" y="37505"/>
                  <a:pt x="136773" y="40593"/>
                </a:cubicBezTo>
                <a:cubicBezTo>
                  <a:pt x="127806" y="23552"/>
                  <a:pt x="109910" y="11906"/>
                  <a:pt x="89297" y="11906"/>
                </a:cubicBezTo>
                <a:cubicBezTo>
                  <a:pt x="59717" y="11906"/>
                  <a:pt x="35719" y="35905"/>
                  <a:pt x="35719" y="65484"/>
                </a:cubicBezTo>
                <a:cubicBezTo>
                  <a:pt x="35719" y="68461"/>
                  <a:pt x="35979" y="71400"/>
                  <a:pt x="36426" y="74228"/>
                </a:cubicBezTo>
                <a:cubicBezTo>
                  <a:pt x="15255" y="81372"/>
                  <a:pt x="0" y="101426"/>
                  <a:pt x="0" y="125016"/>
                </a:cubicBezTo>
                <a:close/>
              </a:path>
            </a:pathLst>
          </a:custGeom>
          <a:solidFill>
            <a:srgbClr val="FAF8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893646" y="2368551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Storage Links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893646" y="2597151"/>
            <a:ext cx="162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AF8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Limited revocation options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7553127" y="2978151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2875" y="53578"/>
                </a:moveTo>
                <a:cubicBezTo>
                  <a:pt x="142875" y="89743"/>
                  <a:pt x="110877" y="119063"/>
                  <a:pt x="71438" y="119063"/>
                </a:cubicBezTo>
                <a:cubicBezTo>
                  <a:pt x="61503" y="119063"/>
                  <a:pt x="52053" y="117202"/>
                  <a:pt x="43458" y="113854"/>
                </a:cubicBezTo>
                <a:lnTo>
                  <a:pt x="13097" y="129927"/>
                </a:lnTo>
                <a:cubicBezTo>
                  <a:pt x="9637" y="131750"/>
                  <a:pt x="5395" y="131118"/>
                  <a:pt x="2604" y="128364"/>
                </a:cubicBezTo>
                <a:cubicBezTo>
                  <a:pt x="-186" y="125611"/>
                  <a:pt x="-819" y="121332"/>
                  <a:pt x="1042" y="117872"/>
                </a:cubicBezTo>
                <a:lnTo>
                  <a:pt x="14288" y="92869"/>
                </a:lnTo>
                <a:cubicBezTo>
                  <a:pt x="5321" y="81930"/>
                  <a:pt x="0" y="68312"/>
                  <a:pt x="0" y="53578"/>
                </a:cubicBezTo>
                <a:cubicBezTo>
                  <a:pt x="0" y="17413"/>
                  <a:pt x="31998" y="-11906"/>
                  <a:pt x="71438" y="-11906"/>
                </a:cubicBezTo>
                <a:cubicBezTo>
                  <a:pt x="110877" y="-11906"/>
                  <a:pt x="142875" y="17413"/>
                  <a:pt x="142875" y="53578"/>
                </a:cubicBezTo>
                <a:close/>
                <a:moveTo>
                  <a:pt x="142875" y="190500"/>
                </a:moveTo>
                <a:cubicBezTo>
                  <a:pt x="107863" y="190500"/>
                  <a:pt x="78730" y="167394"/>
                  <a:pt x="72628" y="136922"/>
                </a:cubicBezTo>
                <a:cubicBezTo>
                  <a:pt x="117277" y="136364"/>
                  <a:pt x="156083" y="104589"/>
                  <a:pt x="160362" y="61503"/>
                </a:cubicBezTo>
                <a:cubicBezTo>
                  <a:pt x="191356" y="68647"/>
                  <a:pt x="214313" y="94357"/>
                  <a:pt x="214313" y="125016"/>
                </a:cubicBezTo>
                <a:cubicBezTo>
                  <a:pt x="214313" y="139750"/>
                  <a:pt x="208992" y="153367"/>
                  <a:pt x="200025" y="164306"/>
                </a:cubicBezTo>
                <a:lnTo>
                  <a:pt x="213271" y="189309"/>
                </a:lnTo>
                <a:cubicBezTo>
                  <a:pt x="215094" y="192770"/>
                  <a:pt x="214461" y="197011"/>
                  <a:pt x="211708" y="199802"/>
                </a:cubicBezTo>
                <a:cubicBezTo>
                  <a:pt x="208955" y="202592"/>
                  <a:pt x="204676" y="203225"/>
                  <a:pt x="201216" y="201364"/>
                </a:cubicBezTo>
                <a:lnTo>
                  <a:pt x="170855" y="185291"/>
                </a:lnTo>
                <a:cubicBezTo>
                  <a:pt x="162260" y="188640"/>
                  <a:pt x="152809" y="190500"/>
                  <a:pt x="142875" y="190500"/>
                </a:cubicBezTo>
                <a:close/>
              </a:path>
            </a:pathLst>
          </a:custGeom>
          <a:solidFill>
            <a:srgbClr val="FAF8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7893646" y="2863851"/>
            <a:ext cx="150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Messaging Platforms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7893646" y="3092451"/>
            <a:ext cx="1495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AF8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encryption or expiry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7382471" y="3606800"/>
            <a:ext cx="4422775" cy="1803400"/>
          </a:xfrm>
          <a:custGeom>
            <a:avLst/>
            <a:gdLst/>
            <a:ahLst/>
            <a:cxnLst/>
            <a:rect l="l" t="t" r="r" b="b"/>
            <a:pathLst>
              <a:path w="4422775" h="1803400">
                <a:moveTo>
                  <a:pt x="0" y="0"/>
                </a:moveTo>
                <a:lnTo>
                  <a:pt x="4422775" y="0"/>
                </a:lnTo>
                <a:lnTo>
                  <a:pt x="4422775" y="1803400"/>
                </a:lnTo>
                <a:lnTo>
                  <a:pt x="0" y="1803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 w="16933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7541221" y="3765552"/>
            <a:ext cx="4191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 on Organizations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7541221" y="4108452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73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7674471" y="4108452"/>
            <a:ext cx="1781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Intellectual property theft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7541221" y="4413252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73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7674471" y="44132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Regulatory compliance violations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7541221" y="4718052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73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7674471" y="4718052"/>
            <a:ext cx="149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Reputational damage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7541221" y="5022852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73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7674471" y="5022852"/>
            <a:ext cx="2457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Financial losses from data breaches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0864652" y="1946277"/>
            <a:ext cx="933450" cy="24765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 algn="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0632084" y="2435226"/>
            <a:ext cx="1181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54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393410" y="3349626"/>
            <a:ext cx="3419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3600" b="1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Purpose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287000" y="4035426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295900" y="4302126"/>
            <a:ext cx="6515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800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Developing a secure file distribution solution with encryption and time-limited access control mechanisms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vectorstock.com/6c8b3e87c0708713a2e06ec5f753f2d6e03f6e80.jpg"/>
          <p:cNvPicPr>
            <a:picLocks noChangeAspect="1"/>
          </p:cNvPicPr>
          <p:nvPr/>
        </p:nvPicPr>
        <p:blipFill>
          <a:blip r:embed="rId3">
            <a:alphaModFix amt="10000"/>
          </a:blip>
          <a:srcRect l="56" r="56"/>
          <a:stretch/>
        </p:blipFill>
        <p:spPr>
          <a:xfrm>
            <a:off x="0" y="5371060"/>
            <a:ext cx="2717721" cy="1490972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380607" y="380607"/>
            <a:ext cx="1242477" cy="251641"/>
          </a:xfrm>
          <a:custGeom>
            <a:avLst/>
            <a:gdLst/>
            <a:ahLst/>
            <a:cxnLst/>
            <a:rect l="l" t="t" r="r" b="b"/>
            <a:pathLst>
              <a:path w="1242477" h="251641">
                <a:moveTo>
                  <a:pt x="0" y="0"/>
                </a:moveTo>
                <a:lnTo>
                  <a:pt x="1242477" y="0"/>
                </a:lnTo>
                <a:lnTo>
                  <a:pt x="1242477" y="251641"/>
                </a:lnTo>
                <a:lnTo>
                  <a:pt x="0" y="251641"/>
                </a:lnTo>
                <a:lnTo>
                  <a:pt x="0" y="0"/>
                </a:lnTo>
                <a:close/>
              </a:path>
            </a:pathLst>
          </a:custGeom>
          <a:solidFill>
            <a:srgbClr val="FAF8F3">
              <a:alpha val="80000"/>
            </a:srgbClr>
          </a:solidFill>
          <a:ln w="8467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77461" y="377461"/>
            <a:ext cx="1292805" cy="245350"/>
          </a:xfrm>
          <a:prstGeom prst="rect">
            <a:avLst/>
          </a:prstGeom>
          <a:noFill/>
          <a:ln/>
        </p:spPr>
        <p:txBody>
          <a:bodyPr wrap="square" lIns="113238" tIns="37746" rIns="113238" bIns="37746" rtlCol="0" anchor="ctr"/>
          <a:lstStyle/>
          <a:p>
            <a:pPr>
              <a:lnSpc>
                <a:spcPct val="130000"/>
              </a:lnSpc>
            </a:pPr>
            <a:r>
              <a:rPr lang="en-US" sz="892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 / Project Purpose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77461" y="748633"/>
            <a:ext cx="11606935" cy="377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75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Purpose &amp; Vision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77461" y="1239333"/>
            <a:ext cx="905907" cy="37746"/>
          </a:xfrm>
          <a:custGeom>
            <a:avLst/>
            <a:gdLst/>
            <a:ahLst/>
            <a:cxnLst/>
            <a:rect l="l" t="t" r="r" b="b"/>
            <a:pathLst>
              <a:path w="905907" h="37746">
                <a:moveTo>
                  <a:pt x="0" y="0"/>
                </a:moveTo>
                <a:lnTo>
                  <a:pt x="905907" y="0"/>
                </a:lnTo>
                <a:lnTo>
                  <a:pt x="905907" y="37746"/>
                </a:lnTo>
                <a:lnTo>
                  <a:pt x="0" y="37746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83752" y="1358862"/>
            <a:ext cx="6712520" cy="1862142"/>
          </a:xfrm>
          <a:custGeom>
            <a:avLst/>
            <a:gdLst/>
            <a:ahLst/>
            <a:cxnLst/>
            <a:rect l="l" t="t" r="r" b="b"/>
            <a:pathLst>
              <a:path w="6712520" h="1862142">
                <a:moveTo>
                  <a:pt x="0" y="0"/>
                </a:moveTo>
                <a:lnTo>
                  <a:pt x="6712520" y="0"/>
                </a:lnTo>
                <a:lnTo>
                  <a:pt x="6712520" y="1862142"/>
                </a:lnTo>
                <a:lnTo>
                  <a:pt x="0" y="1862142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 w="16933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69337" y="1535010"/>
            <a:ext cx="226477" cy="226477"/>
          </a:xfrm>
          <a:custGeom>
            <a:avLst/>
            <a:gdLst/>
            <a:ahLst/>
            <a:cxnLst/>
            <a:rect l="l" t="t" r="r" b="b"/>
            <a:pathLst>
              <a:path w="226477" h="226477">
                <a:moveTo>
                  <a:pt x="198167" y="113238"/>
                </a:moveTo>
                <a:cubicBezTo>
                  <a:pt x="198167" y="66365"/>
                  <a:pt x="160112" y="28310"/>
                  <a:pt x="113238" y="28310"/>
                </a:cubicBezTo>
                <a:cubicBezTo>
                  <a:pt x="66365" y="28310"/>
                  <a:pt x="28310" y="66365"/>
                  <a:pt x="28310" y="113238"/>
                </a:cubicBezTo>
                <a:cubicBezTo>
                  <a:pt x="28310" y="160112"/>
                  <a:pt x="66365" y="198167"/>
                  <a:pt x="113238" y="198167"/>
                </a:cubicBezTo>
                <a:cubicBezTo>
                  <a:pt x="160112" y="198167"/>
                  <a:pt x="198167" y="160112"/>
                  <a:pt x="198167" y="113238"/>
                </a:cubicBezTo>
                <a:close/>
                <a:moveTo>
                  <a:pt x="0" y="113238"/>
                </a:moveTo>
                <a:cubicBezTo>
                  <a:pt x="0" y="50740"/>
                  <a:pt x="50740" y="0"/>
                  <a:pt x="113238" y="0"/>
                </a:cubicBezTo>
                <a:cubicBezTo>
                  <a:pt x="175736" y="0"/>
                  <a:pt x="226477" y="50740"/>
                  <a:pt x="226477" y="113238"/>
                </a:cubicBezTo>
                <a:cubicBezTo>
                  <a:pt x="226477" y="175736"/>
                  <a:pt x="175736" y="226477"/>
                  <a:pt x="113238" y="226477"/>
                </a:cubicBezTo>
                <a:cubicBezTo>
                  <a:pt x="50740" y="226477"/>
                  <a:pt x="0" y="175736"/>
                  <a:pt x="0" y="113238"/>
                </a:cubicBezTo>
                <a:close/>
                <a:moveTo>
                  <a:pt x="113238" y="148625"/>
                </a:moveTo>
                <a:cubicBezTo>
                  <a:pt x="132769" y="148625"/>
                  <a:pt x="148625" y="132769"/>
                  <a:pt x="148625" y="113238"/>
                </a:cubicBezTo>
                <a:cubicBezTo>
                  <a:pt x="148625" y="93708"/>
                  <a:pt x="132769" y="77851"/>
                  <a:pt x="113238" y="77851"/>
                </a:cubicBezTo>
                <a:cubicBezTo>
                  <a:pt x="93708" y="77851"/>
                  <a:pt x="77851" y="93708"/>
                  <a:pt x="77851" y="113238"/>
                </a:cubicBezTo>
                <a:cubicBezTo>
                  <a:pt x="77851" y="132769"/>
                  <a:pt x="93708" y="148625"/>
                  <a:pt x="113238" y="148625"/>
                </a:cubicBezTo>
                <a:close/>
                <a:moveTo>
                  <a:pt x="113238" y="49542"/>
                </a:moveTo>
                <a:cubicBezTo>
                  <a:pt x="148393" y="49542"/>
                  <a:pt x="176935" y="78083"/>
                  <a:pt x="176935" y="113238"/>
                </a:cubicBezTo>
                <a:cubicBezTo>
                  <a:pt x="176935" y="148393"/>
                  <a:pt x="148393" y="176935"/>
                  <a:pt x="113238" y="176935"/>
                </a:cubicBezTo>
                <a:cubicBezTo>
                  <a:pt x="78083" y="176935"/>
                  <a:pt x="49542" y="148393"/>
                  <a:pt x="49542" y="113238"/>
                </a:cubicBezTo>
                <a:cubicBezTo>
                  <a:pt x="49542" y="78083"/>
                  <a:pt x="78083" y="49542"/>
                  <a:pt x="113238" y="49542"/>
                </a:cubicBezTo>
                <a:close/>
                <a:moveTo>
                  <a:pt x="99084" y="113238"/>
                </a:moveTo>
                <a:cubicBezTo>
                  <a:pt x="99084" y="105426"/>
                  <a:pt x="105426" y="99084"/>
                  <a:pt x="113238" y="99084"/>
                </a:cubicBezTo>
                <a:cubicBezTo>
                  <a:pt x="121051" y="99084"/>
                  <a:pt x="127393" y="105426"/>
                  <a:pt x="127393" y="113238"/>
                </a:cubicBezTo>
                <a:cubicBezTo>
                  <a:pt x="127393" y="121051"/>
                  <a:pt x="121051" y="127393"/>
                  <a:pt x="113238" y="127393"/>
                </a:cubicBezTo>
                <a:cubicBezTo>
                  <a:pt x="105426" y="127393"/>
                  <a:pt x="99084" y="121051"/>
                  <a:pt x="99084" y="113238"/>
                </a:cubicBezTo>
                <a:close/>
              </a:path>
            </a:pathLst>
          </a:custGeom>
          <a:solidFill>
            <a:srgbClr val="2D5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37362" y="1516137"/>
            <a:ext cx="1462663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6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Purpose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1028" y="1855852"/>
            <a:ext cx="6173753" cy="446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purpose of this project is to develop a Secure File Distribution System with Time-Limited Access Control that enhances file security through encryption and controlled access.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1028" y="2384298"/>
            <a:ext cx="6473461" cy="679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system addresses the critical gap in current file sharing solutions by providing users with complete control over their shared files, ensuring that sensitive information remains protected even after distribution.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83752" y="3384570"/>
            <a:ext cx="6712520" cy="1824396"/>
          </a:xfrm>
          <a:custGeom>
            <a:avLst/>
            <a:gdLst/>
            <a:ahLst/>
            <a:cxnLst/>
            <a:rect l="l" t="t" r="r" b="b"/>
            <a:pathLst>
              <a:path w="6712520" h="1824396">
                <a:moveTo>
                  <a:pt x="0" y="0"/>
                </a:moveTo>
                <a:lnTo>
                  <a:pt x="6712520" y="0"/>
                </a:lnTo>
                <a:lnTo>
                  <a:pt x="6712520" y="1824396"/>
                </a:lnTo>
                <a:lnTo>
                  <a:pt x="0" y="1824396"/>
                </a:lnTo>
                <a:lnTo>
                  <a:pt x="0" y="0"/>
                </a:lnTo>
                <a:close/>
              </a:path>
            </a:pathLst>
          </a:custGeom>
          <a:solidFill>
            <a:srgbClr val="2D5A3D"/>
          </a:solidFill>
          <a:ln w="16933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41028" y="3541847"/>
            <a:ext cx="6482898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b="1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Capabilities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331141" y="3881562"/>
            <a:ext cx="452954" cy="452954"/>
          </a:xfrm>
          <a:custGeom>
            <a:avLst/>
            <a:gdLst/>
            <a:ahLst/>
            <a:cxnLst/>
            <a:rect l="l" t="t" r="r" b="b"/>
            <a:pathLst>
              <a:path w="452954" h="452954">
                <a:moveTo>
                  <a:pt x="0" y="0"/>
                </a:moveTo>
                <a:lnTo>
                  <a:pt x="452954" y="0"/>
                </a:lnTo>
                <a:lnTo>
                  <a:pt x="452954" y="452954"/>
                </a:lnTo>
                <a:lnTo>
                  <a:pt x="0" y="452954"/>
                </a:lnTo>
                <a:lnTo>
                  <a:pt x="0" y="0"/>
                </a:lnTo>
                <a:close/>
              </a:path>
            </a:pathLst>
          </a:custGeom>
          <a:solidFill>
            <a:srgbClr val="FAF8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486844" y="4013673"/>
            <a:ext cx="141548" cy="188731"/>
          </a:xfrm>
          <a:custGeom>
            <a:avLst/>
            <a:gdLst/>
            <a:ahLst/>
            <a:cxnLst/>
            <a:rect l="l" t="t" r="r" b="b"/>
            <a:pathLst>
              <a:path w="141548" h="188731">
                <a:moveTo>
                  <a:pt x="47183" y="35387"/>
                </a:moveTo>
                <a:lnTo>
                  <a:pt x="47183" y="58978"/>
                </a:lnTo>
                <a:lnTo>
                  <a:pt x="94365" y="58978"/>
                </a:lnTo>
                <a:lnTo>
                  <a:pt x="94365" y="35387"/>
                </a:lnTo>
                <a:cubicBezTo>
                  <a:pt x="94365" y="22375"/>
                  <a:pt x="83786" y="11796"/>
                  <a:pt x="70774" y="11796"/>
                </a:cubicBezTo>
                <a:cubicBezTo>
                  <a:pt x="57762" y="11796"/>
                  <a:pt x="47183" y="22375"/>
                  <a:pt x="47183" y="35387"/>
                </a:cubicBezTo>
                <a:close/>
                <a:moveTo>
                  <a:pt x="23591" y="58978"/>
                </a:moveTo>
                <a:lnTo>
                  <a:pt x="23591" y="35387"/>
                </a:lnTo>
                <a:cubicBezTo>
                  <a:pt x="23591" y="9326"/>
                  <a:pt x="44713" y="-11796"/>
                  <a:pt x="70774" y="-11796"/>
                </a:cubicBezTo>
                <a:cubicBezTo>
                  <a:pt x="96835" y="-11796"/>
                  <a:pt x="117957" y="9326"/>
                  <a:pt x="117957" y="35387"/>
                </a:cubicBezTo>
                <a:lnTo>
                  <a:pt x="117957" y="58978"/>
                </a:lnTo>
                <a:cubicBezTo>
                  <a:pt x="130969" y="58978"/>
                  <a:pt x="141548" y="69558"/>
                  <a:pt x="141548" y="82570"/>
                </a:cubicBezTo>
                <a:lnTo>
                  <a:pt x="141548" y="165139"/>
                </a:lnTo>
                <a:cubicBezTo>
                  <a:pt x="141548" y="178151"/>
                  <a:pt x="130969" y="188731"/>
                  <a:pt x="117957" y="188731"/>
                </a:cubicBezTo>
                <a:lnTo>
                  <a:pt x="23591" y="188731"/>
                </a:lnTo>
                <a:cubicBezTo>
                  <a:pt x="10579" y="188731"/>
                  <a:pt x="0" y="178151"/>
                  <a:pt x="0" y="165139"/>
                </a:cubicBezTo>
                <a:lnTo>
                  <a:pt x="0" y="82570"/>
                </a:lnTo>
                <a:cubicBezTo>
                  <a:pt x="0" y="69558"/>
                  <a:pt x="10579" y="58978"/>
                  <a:pt x="23591" y="58978"/>
                </a:cubicBezTo>
                <a:close/>
              </a:path>
            </a:pathLst>
          </a:custGeom>
          <a:solidFill>
            <a:srgbClr val="2D5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03282" y="4410008"/>
            <a:ext cx="2104347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9" b="1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 Encryption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8000" y="4674231"/>
            <a:ext cx="2094910" cy="377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dirty="0">
                <a:solidFill>
                  <a:srgbClr val="FAF8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XOR-ENC encryption before sharing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515305" y="3881562"/>
            <a:ext cx="452954" cy="452954"/>
          </a:xfrm>
          <a:custGeom>
            <a:avLst/>
            <a:gdLst/>
            <a:ahLst/>
            <a:cxnLst/>
            <a:rect l="l" t="t" r="r" b="b"/>
            <a:pathLst>
              <a:path w="452954" h="452954">
                <a:moveTo>
                  <a:pt x="0" y="0"/>
                </a:moveTo>
                <a:lnTo>
                  <a:pt x="452954" y="0"/>
                </a:lnTo>
                <a:lnTo>
                  <a:pt x="452954" y="452954"/>
                </a:lnTo>
                <a:lnTo>
                  <a:pt x="0" y="452954"/>
                </a:lnTo>
                <a:lnTo>
                  <a:pt x="0" y="0"/>
                </a:lnTo>
                <a:close/>
              </a:path>
            </a:pathLst>
          </a:custGeom>
          <a:solidFill>
            <a:srgbClr val="FAF8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647417" y="4013673"/>
            <a:ext cx="188731" cy="188731"/>
          </a:xfrm>
          <a:custGeom>
            <a:avLst/>
            <a:gdLst/>
            <a:ahLst/>
            <a:cxnLst/>
            <a:rect l="l" t="t" r="r" b="b"/>
            <a:pathLst>
              <a:path w="188731" h="188731">
                <a:moveTo>
                  <a:pt x="94365" y="0"/>
                </a:moveTo>
                <a:cubicBezTo>
                  <a:pt x="146447" y="0"/>
                  <a:pt x="188731" y="42284"/>
                  <a:pt x="188731" y="94365"/>
                </a:cubicBezTo>
                <a:cubicBezTo>
                  <a:pt x="188731" y="146447"/>
                  <a:pt x="146447" y="188731"/>
                  <a:pt x="94365" y="188731"/>
                </a:cubicBezTo>
                <a:cubicBezTo>
                  <a:pt x="42284" y="188731"/>
                  <a:pt x="0" y="146447"/>
                  <a:pt x="0" y="94365"/>
                </a:cubicBezTo>
                <a:cubicBezTo>
                  <a:pt x="0" y="42284"/>
                  <a:pt x="42284" y="0"/>
                  <a:pt x="94365" y="0"/>
                </a:cubicBezTo>
                <a:close/>
                <a:moveTo>
                  <a:pt x="85519" y="44234"/>
                </a:moveTo>
                <a:lnTo>
                  <a:pt x="85519" y="94365"/>
                </a:lnTo>
                <a:cubicBezTo>
                  <a:pt x="85519" y="97314"/>
                  <a:pt x="86993" y="100079"/>
                  <a:pt x="89463" y="101738"/>
                </a:cubicBezTo>
                <a:lnTo>
                  <a:pt x="124850" y="125329"/>
                </a:lnTo>
                <a:cubicBezTo>
                  <a:pt x="128905" y="128057"/>
                  <a:pt x="134397" y="126951"/>
                  <a:pt x="137125" y="122859"/>
                </a:cubicBezTo>
                <a:cubicBezTo>
                  <a:pt x="139852" y="118768"/>
                  <a:pt x="138747" y="113312"/>
                  <a:pt x="134655" y="110584"/>
                </a:cubicBezTo>
                <a:lnTo>
                  <a:pt x="103212" y="89647"/>
                </a:lnTo>
                <a:lnTo>
                  <a:pt x="103212" y="44234"/>
                </a:lnTo>
                <a:cubicBezTo>
                  <a:pt x="103212" y="39331"/>
                  <a:pt x="99268" y="35387"/>
                  <a:pt x="94365" y="35387"/>
                </a:cubicBezTo>
                <a:cubicBezTo>
                  <a:pt x="89463" y="35387"/>
                  <a:pt x="85519" y="39331"/>
                  <a:pt x="85519" y="44234"/>
                </a:cubicBezTo>
                <a:close/>
              </a:path>
            </a:pathLst>
          </a:custGeom>
          <a:solidFill>
            <a:srgbClr val="2D5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2687446" y="4410008"/>
            <a:ext cx="2104347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9" b="1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Time-Limited Access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2692164" y="4674231"/>
            <a:ext cx="2094910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dirty="0">
                <a:solidFill>
                  <a:srgbClr val="FAF8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Customizable expiry periods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699568" y="3881562"/>
            <a:ext cx="452954" cy="452954"/>
          </a:xfrm>
          <a:custGeom>
            <a:avLst/>
            <a:gdLst/>
            <a:ahLst/>
            <a:cxnLst/>
            <a:rect l="l" t="t" r="r" b="b"/>
            <a:pathLst>
              <a:path w="452954" h="452954">
                <a:moveTo>
                  <a:pt x="0" y="0"/>
                </a:moveTo>
                <a:lnTo>
                  <a:pt x="452954" y="0"/>
                </a:lnTo>
                <a:lnTo>
                  <a:pt x="452954" y="452954"/>
                </a:lnTo>
                <a:lnTo>
                  <a:pt x="0" y="452954"/>
                </a:lnTo>
                <a:lnTo>
                  <a:pt x="0" y="0"/>
                </a:lnTo>
                <a:close/>
              </a:path>
            </a:pathLst>
          </a:custGeom>
          <a:solidFill>
            <a:srgbClr val="FAF8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819884" y="4013673"/>
            <a:ext cx="212322" cy="188731"/>
          </a:xfrm>
          <a:custGeom>
            <a:avLst/>
            <a:gdLst/>
            <a:ahLst/>
            <a:cxnLst/>
            <a:rect l="l" t="t" r="r" b="b"/>
            <a:pathLst>
              <a:path w="212322" h="188731">
                <a:moveTo>
                  <a:pt x="82570" y="91416"/>
                </a:moveTo>
                <a:cubicBezTo>
                  <a:pt x="106983" y="91416"/>
                  <a:pt x="126803" y="71596"/>
                  <a:pt x="126803" y="47183"/>
                </a:cubicBezTo>
                <a:cubicBezTo>
                  <a:pt x="126803" y="22769"/>
                  <a:pt x="106983" y="2949"/>
                  <a:pt x="82570" y="2949"/>
                </a:cubicBezTo>
                <a:cubicBezTo>
                  <a:pt x="58156" y="2949"/>
                  <a:pt x="38336" y="22769"/>
                  <a:pt x="38336" y="47183"/>
                </a:cubicBezTo>
                <a:cubicBezTo>
                  <a:pt x="38336" y="71596"/>
                  <a:pt x="58156" y="91416"/>
                  <a:pt x="82570" y="91416"/>
                </a:cubicBezTo>
                <a:close/>
                <a:moveTo>
                  <a:pt x="71622" y="112059"/>
                </a:moveTo>
                <a:cubicBezTo>
                  <a:pt x="35313" y="112059"/>
                  <a:pt x="5898" y="141474"/>
                  <a:pt x="5898" y="177783"/>
                </a:cubicBezTo>
                <a:cubicBezTo>
                  <a:pt x="5898" y="183828"/>
                  <a:pt x="10800" y="188731"/>
                  <a:pt x="16846" y="188731"/>
                </a:cubicBezTo>
                <a:lnTo>
                  <a:pt x="109552" y="188731"/>
                </a:lnTo>
                <a:cubicBezTo>
                  <a:pt x="96208" y="173028"/>
                  <a:pt x="88467" y="152791"/>
                  <a:pt x="88467" y="131374"/>
                </a:cubicBezTo>
                <a:lnTo>
                  <a:pt x="88467" y="119910"/>
                </a:lnTo>
                <a:cubicBezTo>
                  <a:pt x="88467" y="117219"/>
                  <a:pt x="88836" y="114565"/>
                  <a:pt x="89536" y="112059"/>
                </a:cubicBezTo>
                <a:lnTo>
                  <a:pt x="71622" y="112059"/>
                </a:lnTo>
                <a:close/>
                <a:moveTo>
                  <a:pt x="164144" y="180068"/>
                </a:moveTo>
                <a:lnTo>
                  <a:pt x="159241" y="182390"/>
                </a:lnTo>
                <a:lnTo>
                  <a:pt x="159241" y="113054"/>
                </a:lnTo>
                <a:lnTo>
                  <a:pt x="194628" y="124850"/>
                </a:lnTo>
                <a:lnTo>
                  <a:pt x="194628" y="132075"/>
                </a:lnTo>
                <a:cubicBezTo>
                  <a:pt x="194628" y="152643"/>
                  <a:pt x="182759" y="171332"/>
                  <a:pt x="164144" y="180105"/>
                </a:cubicBezTo>
                <a:close/>
                <a:moveTo>
                  <a:pt x="155518" y="95655"/>
                </a:moveTo>
                <a:lnTo>
                  <a:pt x="114234" y="109405"/>
                </a:lnTo>
                <a:cubicBezTo>
                  <a:pt x="109405" y="111027"/>
                  <a:pt x="106161" y="115524"/>
                  <a:pt x="106161" y="120611"/>
                </a:cubicBezTo>
                <a:lnTo>
                  <a:pt x="106161" y="132075"/>
                </a:lnTo>
                <a:cubicBezTo>
                  <a:pt x="106161" y="159500"/>
                  <a:pt x="122011" y="184455"/>
                  <a:pt x="146782" y="196103"/>
                </a:cubicBezTo>
                <a:lnTo>
                  <a:pt x="153602" y="199310"/>
                </a:lnTo>
                <a:cubicBezTo>
                  <a:pt x="155371" y="200121"/>
                  <a:pt x="157288" y="200563"/>
                  <a:pt x="159205" y="200563"/>
                </a:cubicBezTo>
                <a:cubicBezTo>
                  <a:pt x="161121" y="200563"/>
                  <a:pt x="163075" y="200121"/>
                  <a:pt x="164808" y="199310"/>
                </a:cubicBezTo>
                <a:lnTo>
                  <a:pt x="171627" y="196103"/>
                </a:lnTo>
                <a:cubicBezTo>
                  <a:pt x="196472" y="184418"/>
                  <a:pt x="212322" y="159463"/>
                  <a:pt x="212322" y="132038"/>
                </a:cubicBezTo>
                <a:lnTo>
                  <a:pt x="212322" y="120574"/>
                </a:lnTo>
                <a:cubicBezTo>
                  <a:pt x="212322" y="115487"/>
                  <a:pt x="209078" y="110990"/>
                  <a:pt x="204249" y="109368"/>
                </a:cubicBezTo>
                <a:lnTo>
                  <a:pt x="162964" y="95619"/>
                </a:lnTo>
                <a:cubicBezTo>
                  <a:pt x="160532" y="94808"/>
                  <a:pt x="157914" y="94808"/>
                  <a:pt x="155518" y="95619"/>
                </a:cubicBezTo>
                <a:close/>
              </a:path>
            </a:pathLst>
          </a:custGeom>
          <a:solidFill>
            <a:srgbClr val="2D5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871708" y="4410008"/>
            <a:ext cx="2104347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9" b="1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 Control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876427" y="4674231"/>
            <a:ext cx="2094910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dirty="0">
                <a:solidFill>
                  <a:srgbClr val="FAF8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Password-based authentication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383752" y="5372536"/>
            <a:ext cx="6712520" cy="1484681"/>
          </a:xfrm>
          <a:custGeom>
            <a:avLst/>
            <a:gdLst/>
            <a:ahLst/>
            <a:cxnLst/>
            <a:rect l="l" t="t" r="r" b="b"/>
            <a:pathLst>
              <a:path w="6712520" h="1484681">
                <a:moveTo>
                  <a:pt x="0" y="0"/>
                </a:moveTo>
                <a:lnTo>
                  <a:pt x="6712520" y="0"/>
                </a:lnTo>
                <a:lnTo>
                  <a:pt x="6712520" y="1484681"/>
                </a:lnTo>
                <a:lnTo>
                  <a:pt x="0" y="14846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 w="16933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41028" y="5529808"/>
            <a:ext cx="6482898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1072816" y="5869523"/>
            <a:ext cx="377461" cy="377461"/>
          </a:xfrm>
          <a:custGeom>
            <a:avLst/>
            <a:gdLst/>
            <a:ahLst/>
            <a:cxnLst/>
            <a:rect l="l" t="t" r="r" b="b"/>
            <a:pathLst>
              <a:path w="377461" h="377461">
                <a:moveTo>
                  <a:pt x="0" y="0"/>
                </a:moveTo>
                <a:lnTo>
                  <a:pt x="377461" y="0"/>
                </a:lnTo>
                <a:lnTo>
                  <a:pt x="377461" y="377461"/>
                </a:lnTo>
                <a:lnTo>
                  <a:pt x="0" y="377461"/>
                </a:lnTo>
                <a:lnTo>
                  <a:pt x="0" y="0"/>
                </a:lnTo>
                <a:close/>
              </a:path>
            </a:pathLst>
          </a:custGeom>
          <a:solidFill>
            <a:srgbClr val="2D5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1030351" y="5869523"/>
            <a:ext cx="462390" cy="377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7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03282" y="6284731"/>
            <a:ext cx="1519282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9" b="1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 File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08000" y="6511207"/>
            <a:ext cx="1509845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Choose file to share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2005755" y="6199802"/>
            <a:ext cx="169858" cy="169858"/>
          </a:xfrm>
          <a:custGeom>
            <a:avLst/>
            <a:gdLst/>
            <a:ahLst/>
            <a:cxnLst/>
            <a:rect l="l" t="t" r="r" b="b"/>
            <a:pathLst>
              <a:path w="169858" h="169858">
                <a:moveTo>
                  <a:pt x="166739" y="92426"/>
                </a:moveTo>
                <a:cubicBezTo>
                  <a:pt x="170886" y="88279"/>
                  <a:pt x="170886" y="81545"/>
                  <a:pt x="166739" y="77398"/>
                </a:cubicBezTo>
                <a:lnTo>
                  <a:pt x="113659" y="24318"/>
                </a:lnTo>
                <a:cubicBezTo>
                  <a:pt x="109512" y="20171"/>
                  <a:pt x="102777" y="20171"/>
                  <a:pt x="98630" y="24318"/>
                </a:cubicBezTo>
                <a:cubicBezTo>
                  <a:pt x="94483" y="28464"/>
                  <a:pt x="94483" y="35199"/>
                  <a:pt x="98630" y="39346"/>
                </a:cubicBezTo>
                <a:lnTo>
                  <a:pt x="133597" y="74313"/>
                </a:lnTo>
                <a:lnTo>
                  <a:pt x="10616" y="74313"/>
                </a:lnTo>
                <a:cubicBezTo>
                  <a:pt x="4744" y="74313"/>
                  <a:pt x="0" y="79057"/>
                  <a:pt x="0" y="84929"/>
                </a:cubicBezTo>
                <a:cubicBezTo>
                  <a:pt x="0" y="90801"/>
                  <a:pt x="4744" y="95545"/>
                  <a:pt x="10616" y="95545"/>
                </a:cubicBezTo>
                <a:lnTo>
                  <a:pt x="133597" y="95545"/>
                </a:lnTo>
                <a:lnTo>
                  <a:pt x="98630" y="130512"/>
                </a:lnTo>
                <a:cubicBezTo>
                  <a:pt x="94483" y="134659"/>
                  <a:pt x="94483" y="141393"/>
                  <a:pt x="98630" y="145540"/>
                </a:cubicBezTo>
                <a:cubicBezTo>
                  <a:pt x="102777" y="149687"/>
                  <a:pt x="109512" y="149687"/>
                  <a:pt x="113659" y="145540"/>
                </a:cubicBezTo>
                <a:lnTo>
                  <a:pt x="166739" y="92460"/>
                </a:lnTo>
                <a:close/>
              </a:path>
            </a:pathLst>
          </a:custGeom>
          <a:solidFill>
            <a:srgbClr val="8B7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2726372" y="5869523"/>
            <a:ext cx="377461" cy="377461"/>
          </a:xfrm>
          <a:custGeom>
            <a:avLst/>
            <a:gdLst/>
            <a:ahLst/>
            <a:cxnLst/>
            <a:rect l="l" t="t" r="r" b="b"/>
            <a:pathLst>
              <a:path w="377461" h="377461">
                <a:moveTo>
                  <a:pt x="0" y="0"/>
                </a:moveTo>
                <a:lnTo>
                  <a:pt x="377461" y="0"/>
                </a:lnTo>
                <a:lnTo>
                  <a:pt x="377461" y="377461"/>
                </a:lnTo>
                <a:lnTo>
                  <a:pt x="0" y="377461"/>
                </a:lnTo>
                <a:lnTo>
                  <a:pt x="0" y="0"/>
                </a:lnTo>
                <a:close/>
              </a:path>
            </a:pathLst>
          </a:custGeom>
          <a:solidFill>
            <a:srgbClr val="7D9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2683907" y="5869523"/>
            <a:ext cx="462390" cy="377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7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2156739" y="6284731"/>
            <a:ext cx="1519282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9" b="1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Encrypt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2161458" y="6511207"/>
            <a:ext cx="1509845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Apply encryption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3659310" y="6199802"/>
            <a:ext cx="169858" cy="169858"/>
          </a:xfrm>
          <a:custGeom>
            <a:avLst/>
            <a:gdLst/>
            <a:ahLst/>
            <a:cxnLst/>
            <a:rect l="l" t="t" r="r" b="b"/>
            <a:pathLst>
              <a:path w="169858" h="169858">
                <a:moveTo>
                  <a:pt x="166739" y="92426"/>
                </a:moveTo>
                <a:cubicBezTo>
                  <a:pt x="170886" y="88279"/>
                  <a:pt x="170886" y="81545"/>
                  <a:pt x="166739" y="77398"/>
                </a:cubicBezTo>
                <a:lnTo>
                  <a:pt x="113659" y="24318"/>
                </a:lnTo>
                <a:cubicBezTo>
                  <a:pt x="109512" y="20171"/>
                  <a:pt x="102777" y="20171"/>
                  <a:pt x="98630" y="24318"/>
                </a:cubicBezTo>
                <a:cubicBezTo>
                  <a:pt x="94483" y="28464"/>
                  <a:pt x="94483" y="35199"/>
                  <a:pt x="98630" y="39346"/>
                </a:cubicBezTo>
                <a:lnTo>
                  <a:pt x="133597" y="74313"/>
                </a:lnTo>
                <a:lnTo>
                  <a:pt x="10616" y="74313"/>
                </a:lnTo>
                <a:cubicBezTo>
                  <a:pt x="4744" y="74313"/>
                  <a:pt x="0" y="79057"/>
                  <a:pt x="0" y="84929"/>
                </a:cubicBezTo>
                <a:cubicBezTo>
                  <a:pt x="0" y="90801"/>
                  <a:pt x="4744" y="95545"/>
                  <a:pt x="10616" y="95545"/>
                </a:cubicBezTo>
                <a:lnTo>
                  <a:pt x="133597" y="95545"/>
                </a:lnTo>
                <a:lnTo>
                  <a:pt x="98630" y="130512"/>
                </a:lnTo>
                <a:cubicBezTo>
                  <a:pt x="94483" y="134659"/>
                  <a:pt x="94483" y="141393"/>
                  <a:pt x="98630" y="145540"/>
                </a:cubicBezTo>
                <a:cubicBezTo>
                  <a:pt x="102777" y="149687"/>
                  <a:pt x="109512" y="149687"/>
                  <a:pt x="113659" y="145540"/>
                </a:cubicBezTo>
                <a:lnTo>
                  <a:pt x="166739" y="92460"/>
                </a:lnTo>
                <a:close/>
              </a:path>
            </a:pathLst>
          </a:custGeom>
          <a:solidFill>
            <a:srgbClr val="8B7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4379829" y="5869523"/>
            <a:ext cx="377461" cy="377461"/>
          </a:xfrm>
          <a:custGeom>
            <a:avLst/>
            <a:gdLst/>
            <a:ahLst/>
            <a:cxnLst/>
            <a:rect l="l" t="t" r="r" b="b"/>
            <a:pathLst>
              <a:path w="377461" h="377461">
                <a:moveTo>
                  <a:pt x="0" y="0"/>
                </a:moveTo>
                <a:lnTo>
                  <a:pt x="377461" y="0"/>
                </a:lnTo>
                <a:lnTo>
                  <a:pt x="377461" y="377461"/>
                </a:lnTo>
                <a:lnTo>
                  <a:pt x="0" y="377461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4337365" y="5869523"/>
            <a:ext cx="462390" cy="377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7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3810295" y="6284731"/>
            <a:ext cx="1519282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9" b="1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 Expiry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3815013" y="6511207"/>
            <a:ext cx="1509845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Define access duration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5312768" y="6199802"/>
            <a:ext cx="169858" cy="169858"/>
          </a:xfrm>
          <a:custGeom>
            <a:avLst/>
            <a:gdLst/>
            <a:ahLst/>
            <a:cxnLst/>
            <a:rect l="l" t="t" r="r" b="b"/>
            <a:pathLst>
              <a:path w="169858" h="169858">
                <a:moveTo>
                  <a:pt x="166739" y="92426"/>
                </a:moveTo>
                <a:cubicBezTo>
                  <a:pt x="170886" y="88279"/>
                  <a:pt x="170886" y="81545"/>
                  <a:pt x="166739" y="77398"/>
                </a:cubicBezTo>
                <a:lnTo>
                  <a:pt x="113659" y="24318"/>
                </a:lnTo>
                <a:cubicBezTo>
                  <a:pt x="109512" y="20171"/>
                  <a:pt x="102777" y="20171"/>
                  <a:pt x="98630" y="24318"/>
                </a:cubicBezTo>
                <a:cubicBezTo>
                  <a:pt x="94483" y="28464"/>
                  <a:pt x="94483" y="35199"/>
                  <a:pt x="98630" y="39346"/>
                </a:cubicBezTo>
                <a:lnTo>
                  <a:pt x="133597" y="74313"/>
                </a:lnTo>
                <a:lnTo>
                  <a:pt x="10616" y="74313"/>
                </a:lnTo>
                <a:cubicBezTo>
                  <a:pt x="4744" y="74313"/>
                  <a:pt x="0" y="79057"/>
                  <a:pt x="0" y="84929"/>
                </a:cubicBezTo>
                <a:cubicBezTo>
                  <a:pt x="0" y="90801"/>
                  <a:pt x="4744" y="95545"/>
                  <a:pt x="10616" y="95545"/>
                </a:cubicBezTo>
                <a:lnTo>
                  <a:pt x="133597" y="95545"/>
                </a:lnTo>
                <a:lnTo>
                  <a:pt x="98630" y="130512"/>
                </a:lnTo>
                <a:cubicBezTo>
                  <a:pt x="94483" y="134659"/>
                  <a:pt x="94483" y="141393"/>
                  <a:pt x="98630" y="145540"/>
                </a:cubicBezTo>
                <a:cubicBezTo>
                  <a:pt x="102777" y="149687"/>
                  <a:pt x="109512" y="149687"/>
                  <a:pt x="113659" y="145540"/>
                </a:cubicBezTo>
                <a:lnTo>
                  <a:pt x="166739" y="92460"/>
                </a:lnTo>
                <a:close/>
              </a:path>
            </a:pathLst>
          </a:custGeom>
          <a:solidFill>
            <a:srgbClr val="8B7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6033385" y="5869523"/>
            <a:ext cx="377461" cy="377461"/>
          </a:xfrm>
          <a:custGeom>
            <a:avLst/>
            <a:gdLst/>
            <a:ahLst/>
            <a:cxnLst/>
            <a:rect l="l" t="t" r="r" b="b"/>
            <a:pathLst>
              <a:path w="377461" h="377461">
                <a:moveTo>
                  <a:pt x="0" y="0"/>
                </a:moveTo>
                <a:lnTo>
                  <a:pt x="377461" y="0"/>
                </a:lnTo>
                <a:lnTo>
                  <a:pt x="377461" y="377461"/>
                </a:lnTo>
                <a:lnTo>
                  <a:pt x="0" y="377461"/>
                </a:lnTo>
                <a:lnTo>
                  <a:pt x="0" y="0"/>
                </a:lnTo>
                <a:close/>
              </a:path>
            </a:pathLst>
          </a:custGeom>
          <a:solidFill>
            <a:srgbClr val="2D5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5990921" y="5869523"/>
            <a:ext cx="462390" cy="377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7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5463752" y="6284731"/>
            <a:ext cx="1519282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9" b="1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Share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5468471" y="6511207"/>
            <a:ext cx="1509845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Distribute securely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7339067" y="1358862"/>
            <a:ext cx="4476062" cy="2541573"/>
          </a:xfrm>
          <a:custGeom>
            <a:avLst/>
            <a:gdLst/>
            <a:ahLst/>
            <a:cxnLst/>
            <a:rect l="l" t="t" r="r" b="b"/>
            <a:pathLst>
              <a:path w="4476062" h="2541573">
                <a:moveTo>
                  <a:pt x="0" y="0"/>
                </a:moveTo>
                <a:lnTo>
                  <a:pt x="4476062" y="0"/>
                </a:lnTo>
                <a:lnTo>
                  <a:pt x="4476062" y="2541573"/>
                </a:lnTo>
                <a:lnTo>
                  <a:pt x="0" y="2541573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 w="16933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7496342" y="1516137"/>
            <a:ext cx="4246440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Benefits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7515216" y="1893598"/>
            <a:ext cx="150985" cy="150985"/>
          </a:xfrm>
          <a:custGeom>
            <a:avLst/>
            <a:gdLst/>
            <a:ahLst/>
            <a:cxnLst/>
            <a:rect l="l" t="t" r="r" b="b"/>
            <a:pathLst>
              <a:path w="150985" h="150985">
                <a:moveTo>
                  <a:pt x="75492" y="150985"/>
                </a:moveTo>
                <a:cubicBezTo>
                  <a:pt x="117158" y="150985"/>
                  <a:pt x="150985" y="117158"/>
                  <a:pt x="150985" y="75492"/>
                </a:cubicBezTo>
                <a:cubicBezTo>
                  <a:pt x="150985" y="33827"/>
                  <a:pt x="117158" y="0"/>
                  <a:pt x="75492" y="0"/>
                </a:cubicBezTo>
                <a:cubicBezTo>
                  <a:pt x="33827" y="0"/>
                  <a:pt x="0" y="33827"/>
                  <a:pt x="0" y="75492"/>
                </a:cubicBezTo>
                <a:cubicBezTo>
                  <a:pt x="0" y="117158"/>
                  <a:pt x="33827" y="150985"/>
                  <a:pt x="75492" y="150985"/>
                </a:cubicBezTo>
                <a:close/>
                <a:moveTo>
                  <a:pt x="100381" y="62723"/>
                </a:moveTo>
                <a:lnTo>
                  <a:pt x="76790" y="100470"/>
                </a:lnTo>
                <a:cubicBezTo>
                  <a:pt x="75551" y="102445"/>
                  <a:pt x="73428" y="103684"/>
                  <a:pt x="71098" y="103802"/>
                </a:cubicBezTo>
                <a:cubicBezTo>
                  <a:pt x="68769" y="103920"/>
                  <a:pt x="66528" y="102858"/>
                  <a:pt x="65142" y="100971"/>
                </a:cubicBezTo>
                <a:lnTo>
                  <a:pt x="50987" y="82098"/>
                </a:lnTo>
                <a:cubicBezTo>
                  <a:pt x="48628" y="78972"/>
                  <a:pt x="49276" y="74549"/>
                  <a:pt x="52402" y="72189"/>
                </a:cubicBezTo>
                <a:cubicBezTo>
                  <a:pt x="55528" y="69830"/>
                  <a:pt x="59951" y="70479"/>
                  <a:pt x="62311" y="73605"/>
                </a:cubicBezTo>
                <a:lnTo>
                  <a:pt x="70273" y="84221"/>
                </a:lnTo>
                <a:lnTo>
                  <a:pt x="88379" y="55233"/>
                </a:lnTo>
                <a:cubicBezTo>
                  <a:pt x="90443" y="51930"/>
                  <a:pt x="94808" y="50898"/>
                  <a:pt x="98140" y="52992"/>
                </a:cubicBezTo>
                <a:cubicBezTo>
                  <a:pt x="101472" y="55086"/>
                  <a:pt x="102475" y="59421"/>
                  <a:pt x="100381" y="62753"/>
                </a:cubicBezTo>
                <a:close/>
              </a:path>
            </a:pathLst>
          </a:custGeom>
          <a:solidFill>
            <a:srgbClr val="2D5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7760565" y="1855852"/>
            <a:ext cx="1972235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b="1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Sender Control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7760565" y="2082329"/>
            <a:ext cx="1962799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Maintain ownership after sharing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7515216" y="2384298"/>
            <a:ext cx="150985" cy="150985"/>
          </a:xfrm>
          <a:custGeom>
            <a:avLst/>
            <a:gdLst/>
            <a:ahLst/>
            <a:cxnLst/>
            <a:rect l="l" t="t" r="r" b="b"/>
            <a:pathLst>
              <a:path w="150985" h="150985">
                <a:moveTo>
                  <a:pt x="75492" y="150985"/>
                </a:moveTo>
                <a:cubicBezTo>
                  <a:pt x="117158" y="150985"/>
                  <a:pt x="150985" y="117158"/>
                  <a:pt x="150985" y="75492"/>
                </a:cubicBezTo>
                <a:cubicBezTo>
                  <a:pt x="150985" y="33827"/>
                  <a:pt x="117158" y="0"/>
                  <a:pt x="75492" y="0"/>
                </a:cubicBezTo>
                <a:cubicBezTo>
                  <a:pt x="33827" y="0"/>
                  <a:pt x="0" y="33827"/>
                  <a:pt x="0" y="75492"/>
                </a:cubicBezTo>
                <a:cubicBezTo>
                  <a:pt x="0" y="117158"/>
                  <a:pt x="33827" y="150985"/>
                  <a:pt x="75492" y="150985"/>
                </a:cubicBezTo>
                <a:close/>
                <a:moveTo>
                  <a:pt x="100381" y="62723"/>
                </a:moveTo>
                <a:lnTo>
                  <a:pt x="76790" y="100470"/>
                </a:lnTo>
                <a:cubicBezTo>
                  <a:pt x="75551" y="102445"/>
                  <a:pt x="73428" y="103684"/>
                  <a:pt x="71098" y="103802"/>
                </a:cubicBezTo>
                <a:cubicBezTo>
                  <a:pt x="68769" y="103920"/>
                  <a:pt x="66528" y="102858"/>
                  <a:pt x="65142" y="100971"/>
                </a:cubicBezTo>
                <a:lnTo>
                  <a:pt x="50987" y="82098"/>
                </a:lnTo>
                <a:cubicBezTo>
                  <a:pt x="48628" y="78972"/>
                  <a:pt x="49276" y="74549"/>
                  <a:pt x="52402" y="72189"/>
                </a:cubicBezTo>
                <a:cubicBezTo>
                  <a:pt x="55528" y="69830"/>
                  <a:pt x="59951" y="70479"/>
                  <a:pt x="62311" y="73605"/>
                </a:cubicBezTo>
                <a:lnTo>
                  <a:pt x="70273" y="84221"/>
                </a:lnTo>
                <a:lnTo>
                  <a:pt x="88379" y="55233"/>
                </a:lnTo>
                <a:cubicBezTo>
                  <a:pt x="90443" y="51930"/>
                  <a:pt x="94808" y="50898"/>
                  <a:pt x="98140" y="52992"/>
                </a:cubicBezTo>
                <a:cubicBezTo>
                  <a:pt x="101472" y="55086"/>
                  <a:pt x="102475" y="59421"/>
                  <a:pt x="100381" y="62753"/>
                </a:cubicBezTo>
                <a:close/>
              </a:path>
            </a:pathLst>
          </a:custGeom>
          <a:solidFill>
            <a:srgbClr val="2D5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7760565" y="2346552"/>
            <a:ext cx="2387443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b="1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Automatic Expiry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7760565" y="2573031"/>
            <a:ext cx="2378006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Files become inaccessible after set time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7515216" y="2875000"/>
            <a:ext cx="150985" cy="150985"/>
          </a:xfrm>
          <a:custGeom>
            <a:avLst/>
            <a:gdLst/>
            <a:ahLst/>
            <a:cxnLst/>
            <a:rect l="l" t="t" r="r" b="b"/>
            <a:pathLst>
              <a:path w="150985" h="150985">
                <a:moveTo>
                  <a:pt x="75492" y="150985"/>
                </a:moveTo>
                <a:cubicBezTo>
                  <a:pt x="117158" y="150985"/>
                  <a:pt x="150985" y="117158"/>
                  <a:pt x="150985" y="75492"/>
                </a:cubicBezTo>
                <a:cubicBezTo>
                  <a:pt x="150985" y="33827"/>
                  <a:pt x="117158" y="0"/>
                  <a:pt x="75492" y="0"/>
                </a:cubicBezTo>
                <a:cubicBezTo>
                  <a:pt x="33827" y="0"/>
                  <a:pt x="0" y="33827"/>
                  <a:pt x="0" y="75492"/>
                </a:cubicBezTo>
                <a:cubicBezTo>
                  <a:pt x="0" y="117158"/>
                  <a:pt x="33827" y="150985"/>
                  <a:pt x="75492" y="150985"/>
                </a:cubicBezTo>
                <a:close/>
                <a:moveTo>
                  <a:pt x="100381" y="62723"/>
                </a:moveTo>
                <a:lnTo>
                  <a:pt x="76790" y="100470"/>
                </a:lnTo>
                <a:cubicBezTo>
                  <a:pt x="75551" y="102445"/>
                  <a:pt x="73428" y="103684"/>
                  <a:pt x="71098" y="103802"/>
                </a:cubicBezTo>
                <a:cubicBezTo>
                  <a:pt x="68769" y="103920"/>
                  <a:pt x="66528" y="102858"/>
                  <a:pt x="65142" y="100971"/>
                </a:cubicBezTo>
                <a:lnTo>
                  <a:pt x="50987" y="82098"/>
                </a:lnTo>
                <a:cubicBezTo>
                  <a:pt x="48628" y="78972"/>
                  <a:pt x="49276" y="74549"/>
                  <a:pt x="52402" y="72189"/>
                </a:cubicBezTo>
                <a:cubicBezTo>
                  <a:pt x="55528" y="69830"/>
                  <a:pt x="59951" y="70479"/>
                  <a:pt x="62311" y="73605"/>
                </a:cubicBezTo>
                <a:lnTo>
                  <a:pt x="70273" y="84221"/>
                </a:lnTo>
                <a:lnTo>
                  <a:pt x="88379" y="55233"/>
                </a:lnTo>
                <a:cubicBezTo>
                  <a:pt x="90443" y="51930"/>
                  <a:pt x="94808" y="50898"/>
                  <a:pt x="98140" y="52992"/>
                </a:cubicBezTo>
                <a:cubicBezTo>
                  <a:pt x="101472" y="55086"/>
                  <a:pt x="102475" y="59421"/>
                  <a:pt x="100381" y="62753"/>
                </a:cubicBezTo>
                <a:close/>
              </a:path>
            </a:pathLst>
          </a:custGeom>
          <a:solidFill>
            <a:srgbClr val="2D5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7760565" y="2837254"/>
            <a:ext cx="2359133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b="1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Enhanced Privacy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7760565" y="3063731"/>
            <a:ext cx="2349697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Protection against unauthorized access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7515216" y="3365700"/>
            <a:ext cx="150985" cy="150985"/>
          </a:xfrm>
          <a:custGeom>
            <a:avLst/>
            <a:gdLst/>
            <a:ahLst/>
            <a:cxnLst/>
            <a:rect l="l" t="t" r="r" b="b"/>
            <a:pathLst>
              <a:path w="150985" h="150985">
                <a:moveTo>
                  <a:pt x="75492" y="150985"/>
                </a:moveTo>
                <a:cubicBezTo>
                  <a:pt x="117158" y="150985"/>
                  <a:pt x="150985" y="117158"/>
                  <a:pt x="150985" y="75492"/>
                </a:cubicBezTo>
                <a:cubicBezTo>
                  <a:pt x="150985" y="33827"/>
                  <a:pt x="117158" y="0"/>
                  <a:pt x="75492" y="0"/>
                </a:cubicBezTo>
                <a:cubicBezTo>
                  <a:pt x="33827" y="0"/>
                  <a:pt x="0" y="33827"/>
                  <a:pt x="0" y="75492"/>
                </a:cubicBezTo>
                <a:cubicBezTo>
                  <a:pt x="0" y="117158"/>
                  <a:pt x="33827" y="150985"/>
                  <a:pt x="75492" y="150985"/>
                </a:cubicBezTo>
                <a:close/>
                <a:moveTo>
                  <a:pt x="100381" y="62723"/>
                </a:moveTo>
                <a:lnTo>
                  <a:pt x="76790" y="100470"/>
                </a:lnTo>
                <a:cubicBezTo>
                  <a:pt x="75551" y="102445"/>
                  <a:pt x="73428" y="103684"/>
                  <a:pt x="71098" y="103802"/>
                </a:cubicBezTo>
                <a:cubicBezTo>
                  <a:pt x="68769" y="103920"/>
                  <a:pt x="66528" y="102858"/>
                  <a:pt x="65142" y="100971"/>
                </a:cubicBezTo>
                <a:lnTo>
                  <a:pt x="50987" y="82098"/>
                </a:lnTo>
                <a:cubicBezTo>
                  <a:pt x="48628" y="78972"/>
                  <a:pt x="49276" y="74549"/>
                  <a:pt x="52402" y="72189"/>
                </a:cubicBezTo>
                <a:cubicBezTo>
                  <a:pt x="55528" y="69830"/>
                  <a:pt x="59951" y="70479"/>
                  <a:pt x="62311" y="73605"/>
                </a:cubicBezTo>
                <a:lnTo>
                  <a:pt x="70273" y="84221"/>
                </a:lnTo>
                <a:lnTo>
                  <a:pt x="88379" y="55233"/>
                </a:lnTo>
                <a:cubicBezTo>
                  <a:pt x="90443" y="51930"/>
                  <a:pt x="94808" y="50898"/>
                  <a:pt x="98140" y="52992"/>
                </a:cubicBezTo>
                <a:cubicBezTo>
                  <a:pt x="101472" y="55086"/>
                  <a:pt x="102475" y="59421"/>
                  <a:pt x="100381" y="62753"/>
                </a:cubicBezTo>
                <a:close/>
              </a:path>
            </a:pathLst>
          </a:custGeom>
          <a:solidFill>
            <a:srgbClr val="2D5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/>
          <p:nvPr/>
        </p:nvSpPr>
        <p:spPr>
          <a:xfrm>
            <a:off x="7760565" y="3327954"/>
            <a:ext cx="2198712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b="1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Compliance Ready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7760565" y="3554430"/>
            <a:ext cx="2189276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Supports data protection regulations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7339067" y="4064000"/>
            <a:ext cx="4476062" cy="1673412"/>
          </a:xfrm>
          <a:custGeom>
            <a:avLst/>
            <a:gdLst/>
            <a:ahLst/>
            <a:cxnLst/>
            <a:rect l="l" t="t" r="r" b="b"/>
            <a:pathLst>
              <a:path w="4476062" h="1673412">
                <a:moveTo>
                  <a:pt x="0" y="0"/>
                </a:moveTo>
                <a:lnTo>
                  <a:pt x="4476062" y="0"/>
                </a:lnTo>
                <a:lnTo>
                  <a:pt x="4476062" y="1673412"/>
                </a:lnTo>
                <a:lnTo>
                  <a:pt x="0" y="1673412"/>
                </a:lnTo>
                <a:lnTo>
                  <a:pt x="0" y="0"/>
                </a:lnTo>
                <a:close/>
              </a:path>
            </a:pathLst>
          </a:custGeom>
          <a:solidFill>
            <a:srgbClr val="7D9A78"/>
          </a:solidFill>
          <a:ln w="16933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7496342" y="4221277"/>
            <a:ext cx="4246440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b="1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Users</a:t>
            </a:r>
            <a:endParaRPr lang="en-US" sz="1600" dirty="0"/>
          </a:p>
        </p:txBody>
      </p:sp>
      <p:sp>
        <p:nvSpPr>
          <p:cNvPr id="63" name="Shape 60"/>
          <p:cNvSpPr/>
          <p:nvPr/>
        </p:nvSpPr>
        <p:spPr>
          <a:xfrm>
            <a:off x="7523473" y="4608175"/>
            <a:ext cx="115598" cy="132111"/>
          </a:xfrm>
          <a:custGeom>
            <a:avLst/>
            <a:gdLst/>
            <a:ahLst/>
            <a:cxnLst/>
            <a:rect l="l" t="t" r="r" b="b"/>
            <a:pathLst>
              <a:path w="115598" h="132111">
                <a:moveTo>
                  <a:pt x="57799" y="63991"/>
                </a:moveTo>
                <a:cubicBezTo>
                  <a:pt x="74888" y="63991"/>
                  <a:pt x="88762" y="50117"/>
                  <a:pt x="88762" y="33028"/>
                </a:cubicBezTo>
                <a:cubicBezTo>
                  <a:pt x="88762" y="15939"/>
                  <a:pt x="74888" y="2064"/>
                  <a:pt x="57799" y="2064"/>
                </a:cubicBezTo>
                <a:cubicBezTo>
                  <a:pt x="40709" y="2064"/>
                  <a:pt x="26835" y="15939"/>
                  <a:pt x="26835" y="33028"/>
                </a:cubicBezTo>
                <a:cubicBezTo>
                  <a:pt x="26835" y="50117"/>
                  <a:pt x="40709" y="63991"/>
                  <a:pt x="57799" y="63991"/>
                </a:cubicBezTo>
                <a:close/>
                <a:moveTo>
                  <a:pt x="50135" y="78441"/>
                </a:moveTo>
                <a:cubicBezTo>
                  <a:pt x="24719" y="78441"/>
                  <a:pt x="4128" y="99032"/>
                  <a:pt x="4128" y="124448"/>
                </a:cubicBezTo>
                <a:cubicBezTo>
                  <a:pt x="4128" y="128680"/>
                  <a:pt x="7560" y="132111"/>
                  <a:pt x="11792" y="132111"/>
                </a:cubicBezTo>
                <a:lnTo>
                  <a:pt x="103806" y="132111"/>
                </a:lnTo>
                <a:cubicBezTo>
                  <a:pt x="108037" y="132111"/>
                  <a:pt x="111469" y="128680"/>
                  <a:pt x="111469" y="124448"/>
                </a:cubicBezTo>
                <a:cubicBezTo>
                  <a:pt x="111469" y="99032"/>
                  <a:pt x="90878" y="78441"/>
                  <a:pt x="65462" y="78441"/>
                </a:cubicBezTo>
                <a:lnTo>
                  <a:pt x="50135" y="78441"/>
                </a:lnTo>
                <a:close/>
              </a:path>
            </a:pathLst>
          </a:custGeom>
          <a:solidFill>
            <a:srgbClr val="FAF8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7736974" y="4560992"/>
            <a:ext cx="3717994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professionals sharing confidential documents</a:t>
            </a:r>
            <a:endParaRPr lang="en-US" sz="1600" dirty="0"/>
          </a:p>
        </p:txBody>
      </p:sp>
      <p:sp>
        <p:nvSpPr>
          <p:cNvPr id="65" name="Shape 62"/>
          <p:cNvSpPr/>
          <p:nvPr/>
        </p:nvSpPr>
        <p:spPr>
          <a:xfrm>
            <a:off x="7523473" y="4872398"/>
            <a:ext cx="115598" cy="132111"/>
          </a:xfrm>
          <a:custGeom>
            <a:avLst/>
            <a:gdLst/>
            <a:ahLst/>
            <a:cxnLst/>
            <a:rect l="l" t="t" r="r" b="b"/>
            <a:pathLst>
              <a:path w="115598" h="132111">
                <a:moveTo>
                  <a:pt x="57799" y="63991"/>
                </a:moveTo>
                <a:cubicBezTo>
                  <a:pt x="74888" y="63991"/>
                  <a:pt x="88762" y="50117"/>
                  <a:pt x="88762" y="33028"/>
                </a:cubicBezTo>
                <a:cubicBezTo>
                  <a:pt x="88762" y="15939"/>
                  <a:pt x="74888" y="2064"/>
                  <a:pt x="57799" y="2064"/>
                </a:cubicBezTo>
                <a:cubicBezTo>
                  <a:pt x="40709" y="2064"/>
                  <a:pt x="26835" y="15939"/>
                  <a:pt x="26835" y="33028"/>
                </a:cubicBezTo>
                <a:cubicBezTo>
                  <a:pt x="26835" y="50117"/>
                  <a:pt x="40709" y="63991"/>
                  <a:pt x="57799" y="63991"/>
                </a:cubicBezTo>
                <a:close/>
                <a:moveTo>
                  <a:pt x="50135" y="78441"/>
                </a:moveTo>
                <a:cubicBezTo>
                  <a:pt x="24719" y="78441"/>
                  <a:pt x="4128" y="99032"/>
                  <a:pt x="4128" y="124448"/>
                </a:cubicBezTo>
                <a:cubicBezTo>
                  <a:pt x="4128" y="128680"/>
                  <a:pt x="7560" y="132111"/>
                  <a:pt x="11792" y="132111"/>
                </a:cubicBezTo>
                <a:lnTo>
                  <a:pt x="103806" y="132111"/>
                </a:lnTo>
                <a:cubicBezTo>
                  <a:pt x="108037" y="132111"/>
                  <a:pt x="111469" y="128680"/>
                  <a:pt x="111469" y="124448"/>
                </a:cubicBezTo>
                <a:cubicBezTo>
                  <a:pt x="111469" y="99032"/>
                  <a:pt x="90878" y="78441"/>
                  <a:pt x="65462" y="78441"/>
                </a:cubicBezTo>
                <a:lnTo>
                  <a:pt x="50135" y="78441"/>
                </a:lnTo>
                <a:close/>
              </a:path>
            </a:pathLst>
          </a:custGeom>
          <a:solidFill>
            <a:srgbClr val="FAF8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/>
          <p:nvPr/>
        </p:nvSpPr>
        <p:spPr>
          <a:xfrm>
            <a:off x="7736974" y="4825215"/>
            <a:ext cx="3123492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Healthcare providers transmitting patient data</a:t>
            </a:r>
            <a:endParaRPr lang="en-US" sz="1600" dirty="0"/>
          </a:p>
        </p:txBody>
      </p:sp>
      <p:sp>
        <p:nvSpPr>
          <p:cNvPr id="67" name="Shape 64"/>
          <p:cNvSpPr/>
          <p:nvPr/>
        </p:nvSpPr>
        <p:spPr>
          <a:xfrm>
            <a:off x="7523473" y="5136621"/>
            <a:ext cx="115598" cy="132111"/>
          </a:xfrm>
          <a:custGeom>
            <a:avLst/>
            <a:gdLst/>
            <a:ahLst/>
            <a:cxnLst/>
            <a:rect l="l" t="t" r="r" b="b"/>
            <a:pathLst>
              <a:path w="115598" h="132111">
                <a:moveTo>
                  <a:pt x="57799" y="63991"/>
                </a:moveTo>
                <a:cubicBezTo>
                  <a:pt x="74888" y="63991"/>
                  <a:pt x="88762" y="50117"/>
                  <a:pt x="88762" y="33028"/>
                </a:cubicBezTo>
                <a:cubicBezTo>
                  <a:pt x="88762" y="15939"/>
                  <a:pt x="74888" y="2064"/>
                  <a:pt x="57799" y="2064"/>
                </a:cubicBezTo>
                <a:cubicBezTo>
                  <a:pt x="40709" y="2064"/>
                  <a:pt x="26835" y="15939"/>
                  <a:pt x="26835" y="33028"/>
                </a:cubicBezTo>
                <a:cubicBezTo>
                  <a:pt x="26835" y="50117"/>
                  <a:pt x="40709" y="63991"/>
                  <a:pt x="57799" y="63991"/>
                </a:cubicBezTo>
                <a:close/>
                <a:moveTo>
                  <a:pt x="50135" y="78441"/>
                </a:moveTo>
                <a:cubicBezTo>
                  <a:pt x="24719" y="78441"/>
                  <a:pt x="4128" y="99032"/>
                  <a:pt x="4128" y="124448"/>
                </a:cubicBezTo>
                <a:cubicBezTo>
                  <a:pt x="4128" y="128680"/>
                  <a:pt x="7560" y="132111"/>
                  <a:pt x="11792" y="132111"/>
                </a:cubicBezTo>
                <a:lnTo>
                  <a:pt x="103806" y="132111"/>
                </a:lnTo>
                <a:cubicBezTo>
                  <a:pt x="108037" y="132111"/>
                  <a:pt x="111469" y="128680"/>
                  <a:pt x="111469" y="124448"/>
                </a:cubicBezTo>
                <a:cubicBezTo>
                  <a:pt x="111469" y="99032"/>
                  <a:pt x="90878" y="78441"/>
                  <a:pt x="65462" y="78441"/>
                </a:cubicBezTo>
                <a:lnTo>
                  <a:pt x="50135" y="78441"/>
                </a:lnTo>
                <a:close/>
              </a:path>
            </a:pathLst>
          </a:custGeom>
          <a:solidFill>
            <a:srgbClr val="FAF8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5"/>
          <p:cNvSpPr/>
          <p:nvPr/>
        </p:nvSpPr>
        <p:spPr>
          <a:xfrm>
            <a:off x="7736974" y="5089438"/>
            <a:ext cx="2953635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Legal teams exchanging sensitive case files</a:t>
            </a:r>
            <a:endParaRPr lang="en-US" sz="1600" dirty="0"/>
          </a:p>
        </p:txBody>
      </p:sp>
      <p:sp>
        <p:nvSpPr>
          <p:cNvPr id="69" name="Shape 66"/>
          <p:cNvSpPr/>
          <p:nvPr/>
        </p:nvSpPr>
        <p:spPr>
          <a:xfrm>
            <a:off x="7523473" y="5400844"/>
            <a:ext cx="115598" cy="132111"/>
          </a:xfrm>
          <a:custGeom>
            <a:avLst/>
            <a:gdLst/>
            <a:ahLst/>
            <a:cxnLst/>
            <a:rect l="l" t="t" r="r" b="b"/>
            <a:pathLst>
              <a:path w="115598" h="132111">
                <a:moveTo>
                  <a:pt x="57799" y="63991"/>
                </a:moveTo>
                <a:cubicBezTo>
                  <a:pt x="74888" y="63991"/>
                  <a:pt x="88762" y="50117"/>
                  <a:pt x="88762" y="33028"/>
                </a:cubicBezTo>
                <a:cubicBezTo>
                  <a:pt x="88762" y="15939"/>
                  <a:pt x="74888" y="2064"/>
                  <a:pt x="57799" y="2064"/>
                </a:cubicBezTo>
                <a:cubicBezTo>
                  <a:pt x="40709" y="2064"/>
                  <a:pt x="26835" y="15939"/>
                  <a:pt x="26835" y="33028"/>
                </a:cubicBezTo>
                <a:cubicBezTo>
                  <a:pt x="26835" y="50117"/>
                  <a:pt x="40709" y="63991"/>
                  <a:pt x="57799" y="63991"/>
                </a:cubicBezTo>
                <a:close/>
                <a:moveTo>
                  <a:pt x="50135" y="78441"/>
                </a:moveTo>
                <a:cubicBezTo>
                  <a:pt x="24719" y="78441"/>
                  <a:pt x="4128" y="99032"/>
                  <a:pt x="4128" y="124448"/>
                </a:cubicBezTo>
                <a:cubicBezTo>
                  <a:pt x="4128" y="128680"/>
                  <a:pt x="7560" y="132111"/>
                  <a:pt x="11792" y="132111"/>
                </a:cubicBezTo>
                <a:lnTo>
                  <a:pt x="103806" y="132111"/>
                </a:lnTo>
                <a:cubicBezTo>
                  <a:pt x="108037" y="132111"/>
                  <a:pt x="111469" y="128680"/>
                  <a:pt x="111469" y="124448"/>
                </a:cubicBezTo>
                <a:cubicBezTo>
                  <a:pt x="111469" y="99032"/>
                  <a:pt x="90878" y="78441"/>
                  <a:pt x="65462" y="78441"/>
                </a:cubicBezTo>
                <a:lnTo>
                  <a:pt x="50135" y="78441"/>
                </a:lnTo>
                <a:close/>
              </a:path>
            </a:pathLst>
          </a:custGeom>
          <a:solidFill>
            <a:srgbClr val="FAF8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7"/>
          <p:cNvSpPr/>
          <p:nvPr/>
        </p:nvSpPr>
        <p:spPr>
          <a:xfrm>
            <a:off x="7736974" y="5353661"/>
            <a:ext cx="3170675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Academic researchers sharing proprietary data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4.ftcdn.net/90c2027490ba41af3095478b0d5f71a4a29b3060.jpg"/>
          <p:cNvPicPr>
            <a:picLocks noChangeAspect="1"/>
          </p:cNvPicPr>
          <p:nvPr/>
        </p:nvPicPr>
        <p:blipFill>
          <a:blip r:embed="rId3">
            <a:alphaModFix amt="15000"/>
          </a:blip>
          <a:srcRect l="92" r="92"/>
          <a:stretch/>
        </p:blipFill>
        <p:spPr>
          <a:xfrm>
            <a:off x="7951291" y="4030861"/>
            <a:ext cx="4240709" cy="2827139"/>
          </a:xfrm>
          <a:prstGeom prst="roundRect">
            <a:avLst>
              <a:gd name="adj" fmla="val 0"/>
            </a:avLst>
          </a:prstGeom>
        </p:spPr>
      </p:pic>
      <p:sp>
        <p:nvSpPr>
          <p:cNvPr id="5" name="Text 2"/>
          <p:cNvSpPr/>
          <p:nvPr/>
        </p:nvSpPr>
        <p:spPr>
          <a:xfrm>
            <a:off x="381000" y="2435228"/>
            <a:ext cx="117729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54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3349628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Objectives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035428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81000" y="4302128"/>
            <a:ext cx="6515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Demonstrating core information security concepts through practical implementation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8.alamy.com/cfa836a876c61dd6a05ed6fcdbaa0cc456137d49.jpg"/>
          <p:cNvPicPr>
            <a:picLocks noChangeAspect="1"/>
          </p:cNvPicPr>
          <p:nvPr/>
        </p:nvPicPr>
        <p:blipFill>
          <a:blip r:embed="rId3">
            <a:alphaModFix amt="10000"/>
          </a:blip>
          <a:srcRect l="27" r="27"/>
          <a:stretch/>
        </p:blipFill>
        <p:spPr>
          <a:xfrm>
            <a:off x="8017726" y="0"/>
            <a:ext cx="4174274" cy="7158228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384175" y="384175"/>
            <a:ext cx="1406525" cy="254000"/>
          </a:xfrm>
          <a:custGeom>
            <a:avLst/>
            <a:gdLst/>
            <a:ahLst/>
            <a:cxnLst/>
            <a:rect l="l" t="t" r="r" b="b"/>
            <a:pathLst>
              <a:path w="1406525" h="254000">
                <a:moveTo>
                  <a:pt x="0" y="0"/>
                </a:moveTo>
                <a:lnTo>
                  <a:pt x="1406525" y="0"/>
                </a:lnTo>
                <a:lnTo>
                  <a:pt x="1406525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FAF8F3">
              <a:alpha val="80000"/>
            </a:srgbClr>
          </a:solidFill>
          <a:ln w="8467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81000" y="381000"/>
            <a:ext cx="1457325" cy="24765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 / System Objectives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755652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Objectives &amp; Security Goals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1000" y="1250952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87350" y="1371602"/>
            <a:ext cx="5622925" cy="2108200"/>
          </a:xfrm>
          <a:custGeom>
            <a:avLst/>
            <a:gdLst/>
            <a:ahLst/>
            <a:cxnLst/>
            <a:rect l="l" t="t" r="r" b="b"/>
            <a:pathLst>
              <a:path w="5622925" h="2108200">
                <a:moveTo>
                  <a:pt x="0" y="0"/>
                </a:moveTo>
                <a:lnTo>
                  <a:pt x="5622925" y="0"/>
                </a:lnTo>
                <a:lnTo>
                  <a:pt x="5622925" y="2108200"/>
                </a:lnTo>
                <a:lnTo>
                  <a:pt x="0" y="21082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 w="16933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60388" y="1549403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-7144"/>
                </a:moveTo>
                <a:cubicBezTo>
                  <a:pt x="136490" y="-7144"/>
                  <a:pt x="142875" y="-759"/>
                  <a:pt x="142875" y="7144"/>
                </a:cubicBezTo>
                <a:lnTo>
                  <a:pt x="142875" y="15314"/>
                </a:lnTo>
                <a:cubicBezTo>
                  <a:pt x="186675" y="21565"/>
                  <a:pt x="221322" y="56212"/>
                  <a:pt x="227573" y="100013"/>
                </a:cubicBezTo>
                <a:lnTo>
                  <a:pt x="235744" y="100013"/>
                </a:lnTo>
                <a:cubicBezTo>
                  <a:pt x="243647" y="100013"/>
                  <a:pt x="250031" y="106397"/>
                  <a:pt x="250031" y="114300"/>
                </a:cubicBezTo>
                <a:cubicBezTo>
                  <a:pt x="250031" y="122203"/>
                  <a:pt x="243647" y="128588"/>
                  <a:pt x="235744" y="128588"/>
                </a:cubicBezTo>
                <a:lnTo>
                  <a:pt x="227573" y="128588"/>
                </a:lnTo>
                <a:cubicBezTo>
                  <a:pt x="221322" y="172388"/>
                  <a:pt x="186675" y="207035"/>
                  <a:pt x="142875" y="213286"/>
                </a:cubicBezTo>
                <a:lnTo>
                  <a:pt x="142875" y="221456"/>
                </a:lnTo>
                <a:cubicBezTo>
                  <a:pt x="142875" y="229359"/>
                  <a:pt x="136490" y="235744"/>
                  <a:pt x="128588" y="235744"/>
                </a:cubicBezTo>
                <a:cubicBezTo>
                  <a:pt x="120685" y="235744"/>
                  <a:pt x="114300" y="229359"/>
                  <a:pt x="114300" y="221456"/>
                </a:cubicBezTo>
                <a:lnTo>
                  <a:pt x="114300" y="213286"/>
                </a:lnTo>
                <a:cubicBezTo>
                  <a:pt x="70500" y="207035"/>
                  <a:pt x="35853" y="172388"/>
                  <a:pt x="29602" y="128588"/>
                </a:cubicBezTo>
                <a:lnTo>
                  <a:pt x="21431" y="128588"/>
                </a:lnTo>
                <a:cubicBezTo>
                  <a:pt x="13528" y="128588"/>
                  <a:pt x="7144" y="122203"/>
                  <a:pt x="7144" y="114300"/>
                </a:cubicBezTo>
                <a:cubicBezTo>
                  <a:pt x="7144" y="106397"/>
                  <a:pt x="13528" y="100013"/>
                  <a:pt x="21431" y="100013"/>
                </a:cubicBezTo>
                <a:lnTo>
                  <a:pt x="29602" y="100013"/>
                </a:lnTo>
                <a:cubicBezTo>
                  <a:pt x="35853" y="56212"/>
                  <a:pt x="70500" y="21565"/>
                  <a:pt x="114300" y="15314"/>
                </a:cubicBezTo>
                <a:lnTo>
                  <a:pt x="114300" y="7144"/>
                </a:lnTo>
                <a:cubicBezTo>
                  <a:pt x="114300" y="-759"/>
                  <a:pt x="120685" y="-7144"/>
                  <a:pt x="128588" y="-7144"/>
                </a:cubicBezTo>
                <a:close/>
                <a:moveTo>
                  <a:pt x="58579" y="128588"/>
                </a:moveTo>
                <a:cubicBezTo>
                  <a:pt x="64249" y="156582"/>
                  <a:pt x="86305" y="178638"/>
                  <a:pt x="114300" y="184309"/>
                </a:cubicBezTo>
                <a:lnTo>
                  <a:pt x="114300" y="178594"/>
                </a:lnTo>
                <a:cubicBezTo>
                  <a:pt x="114300" y="170691"/>
                  <a:pt x="120685" y="164306"/>
                  <a:pt x="128588" y="164306"/>
                </a:cubicBezTo>
                <a:cubicBezTo>
                  <a:pt x="136490" y="164306"/>
                  <a:pt x="142875" y="170691"/>
                  <a:pt x="142875" y="178594"/>
                </a:cubicBezTo>
                <a:lnTo>
                  <a:pt x="142875" y="184309"/>
                </a:lnTo>
                <a:cubicBezTo>
                  <a:pt x="170870" y="178638"/>
                  <a:pt x="192926" y="156582"/>
                  <a:pt x="198596" y="128588"/>
                </a:cubicBezTo>
                <a:lnTo>
                  <a:pt x="192881" y="128588"/>
                </a:lnTo>
                <a:cubicBezTo>
                  <a:pt x="184978" y="128588"/>
                  <a:pt x="178594" y="122203"/>
                  <a:pt x="178594" y="114300"/>
                </a:cubicBezTo>
                <a:cubicBezTo>
                  <a:pt x="178594" y="106397"/>
                  <a:pt x="184978" y="100013"/>
                  <a:pt x="192881" y="100013"/>
                </a:cubicBezTo>
                <a:lnTo>
                  <a:pt x="198596" y="100013"/>
                </a:lnTo>
                <a:cubicBezTo>
                  <a:pt x="192926" y="72018"/>
                  <a:pt x="170870" y="49962"/>
                  <a:pt x="142875" y="44291"/>
                </a:cubicBezTo>
                <a:lnTo>
                  <a:pt x="142875" y="50006"/>
                </a:lnTo>
                <a:cubicBezTo>
                  <a:pt x="142875" y="57909"/>
                  <a:pt x="136490" y="64294"/>
                  <a:pt x="128588" y="64294"/>
                </a:cubicBezTo>
                <a:cubicBezTo>
                  <a:pt x="120685" y="64294"/>
                  <a:pt x="114300" y="57909"/>
                  <a:pt x="114300" y="50006"/>
                </a:cubicBezTo>
                <a:lnTo>
                  <a:pt x="114300" y="44291"/>
                </a:lnTo>
                <a:cubicBezTo>
                  <a:pt x="86305" y="49962"/>
                  <a:pt x="64249" y="72018"/>
                  <a:pt x="58579" y="100013"/>
                </a:cubicBezTo>
                <a:lnTo>
                  <a:pt x="64294" y="100013"/>
                </a:lnTo>
                <a:cubicBezTo>
                  <a:pt x="72197" y="100013"/>
                  <a:pt x="78581" y="106397"/>
                  <a:pt x="78581" y="114300"/>
                </a:cubicBezTo>
                <a:cubicBezTo>
                  <a:pt x="78581" y="122203"/>
                  <a:pt x="72197" y="128588"/>
                  <a:pt x="64294" y="128588"/>
                </a:cubicBezTo>
                <a:lnTo>
                  <a:pt x="58579" y="128588"/>
                </a:lnTo>
                <a:close/>
                <a:moveTo>
                  <a:pt x="128588" y="92869"/>
                </a:moveTo>
                <a:cubicBezTo>
                  <a:pt x="140416" y="92869"/>
                  <a:pt x="150019" y="102472"/>
                  <a:pt x="150019" y="114300"/>
                </a:cubicBezTo>
                <a:cubicBezTo>
                  <a:pt x="150019" y="126128"/>
                  <a:pt x="140416" y="135731"/>
                  <a:pt x="128588" y="135731"/>
                </a:cubicBezTo>
                <a:cubicBezTo>
                  <a:pt x="116759" y="135731"/>
                  <a:pt x="107156" y="126128"/>
                  <a:pt x="107156" y="114300"/>
                </a:cubicBezTo>
                <a:cubicBezTo>
                  <a:pt x="107156" y="102472"/>
                  <a:pt x="116759" y="92869"/>
                  <a:pt x="128588" y="92869"/>
                </a:cubicBezTo>
                <a:close/>
              </a:path>
            </a:pathLst>
          </a:custGeom>
          <a:solidFill>
            <a:srgbClr val="2D5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46150" y="1530353"/>
            <a:ext cx="158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Objective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6100" y="1873253"/>
            <a:ext cx="5361583" cy="679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objective of this project is to demonstrate how encryption, authentication, and time-based access control can be used to protect sensitive information and prevent unauthorized file usage.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6100" y="2635253"/>
            <a:ext cx="53816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By implementing these three core security mechanisms, the system provides a comprehensive solution that addresses the major vulnerabilities in traditional file sharing methods.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87350" y="3644900"/>
            <a:ext cx="5622925" cy="2070100"/>
          </a:xfrm>
          <a:custGeom>
            <a:avLst/>
            <a:gdLst/>
            <a:ahLst/>
            <a:cxnLst/>
            <a:rect l="l" t="t" r="r" b="b"/>
            <a:pathLst>
              <a:path w="5622925" h="2070100">
                <a:moveTo>
                  <a:pt x="0" y="0"/>
                </a:moveTo>
                <a:lnTo>
                  <a:pt x="5622925" y="0"/>
                </a:lnTo>
                <a:lnTo>
                  <a:pt x="5622925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solidFill>
            <a:srgbClr val="2D5A3D"/>
          </a:solidFill>
          <a:ln w="16933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46100" y="3803652"/>
            <a:ext cx="539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Principles Alignment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6100" y="414655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FAF8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63972" y="4251327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57262" y="-5358"/>
                </a:moveTo>
                <a:cubicBezTo>
                  <a:pt x="45073" y="-5358"/>
                  <a:pt x="37907" y="14165"/>
                  <a:pt x="34390" y="32147"/>
                </a:cubicBezTo>
                <a:lnTo>
                  <a:pt x="24110" y="32147"/>
                </a:lnTo>
                <a:cubicBezTo>
                  <a:pt x="19656" y="32147"/>
                  <a:pt x="16073" y="35730"/>
                  <a:pt x="16073" y="40184"/>
                </a:cubicBezTo>
                <a:cubicBezTo>
                  <a:pt x="16073" y="44637"/>
                  <a:pt x="19656" y="48220"/>
                  <a:pt x="24110" y="48220"/>
                </a:cubicBezTo>
                <a:lnTo>
                  <a:pt x="32147" y="48220"/>
                </a:lnTo>
                <a:lnTo>
                  <a:pt x="32147" y="58936"/>
                </a:lnTo>
                <a:cubicBezTo>
                  <a:pt x="32147" y="64629"/>
                  <a:pt x="33252" y="70053"/>
                  <a:pt x="35261" y="75009"/>
                </a:cubicBezTo>
                <a:lnTo>
                  <a:pt x="32147" y="75009"/>
                </a:lnTo>
                <a:lnTo>
                  <a:pt x="32147" y="75009"/>
                </a:lnTo>
                <a:lnTo>
                  <a:pt x="25282" y="75009"/>
                </a:lnTo>
                <a:cubicBezTo>
                  <a:pt x="20192" y="75009"/>
                  <a:pt x="16073" y="79128"/>
                  <a:pt x="16073" y="84218"/>
                </a:cubicBezTo>
                <a:cubicBezTo>
                  <a:pt x="16073" y="85223"/>
                  <a:pt x="16241" y="86194"/>
                  <a:pt x="16542" y="87131"/>
                </a:cubicBezTo>
                <a:lnTo>
                  <a:pt x="26220" y="116131"/>
                </a:lnTo>
                <a:cubicBezTo>
                  <a:pt x="13462" y="127114"/>
                  <a:pt x="5358" y="143355"/>
                  <a:pt x="5358" y="161505"/>
                </a:cubicBezTo>
                <a:cubicBezTo>
                  <a:pt x="5358" y="166996"/>
                  <a:pt x="9811" y="171450"/>
                  <a:pt x="15303" y="171450"/>
                </a:cubicBezTo>
                <a:lnTo>
                  <a:pt x="134715" y="171450"/>
                </a:lnTo>
                <a:cubicBezTo>
                  <a:pt x="140207" y="171450"/>
                  <a:pt x="144661" y="166996"/>
                  <a:pt x="144661" y="161505"/>
                </a:cubicBezTo>
                <a:cubicBezTo>
                  <a:pt x="144661" y="143355"/>
                  <a:pt x="136557" y="127114"/>
                  <a:pt x="123799" y="116164"/>
                </a:cubicBezTo>
                <a:lnTo>
                  <a:pt x="133477" y="87165"/>
                </a:lnTo>
                <a:cubicBezTo>
                  <a:pt x="133778" y="86227"/>
                  <a:pt x="133945" y="85256"/>
                  <a:pt x="133945" y="84252"/>
                </a:cubicBezTo>
                <a:cubicBezTo>
                  <a:pt x="133945" y="79162"/>
                  <a:pt x="129826" y="75043"/>
                  <a:pt x="124737" y="75043"/>
                </a:cubicBezTo>
                <a:lnTo>
                  <a:pt x="117872" y="75043"/>
                </a:lnTo>
                <a:lnTo>
                  <a:pt x="117872" y="75043"/>
                </a:lnTo>
                <a:lnTo>
                  <a:pt x="114758" y="75043"/>
                </a:lnTo>
                <a:cubicBezTo>
                  <a:pt x="116767" y="70087"/>
                  <a:pt x="117872" y="64662"/>
                  <a:pt x="117872" y="58969"/>
                </a:cubicBezTo>
                <a:lnTo>
                  <a:pt x="117872" y="48254"/>
                </a:lnTo>
                <a:lnTo>
                  <a:pt x="125909" y="48254"/>
                </a:lnTo>
                <a:cubicBezTo>
                  <a:pt x="130362" y="48254"/>
                  <a:pt x="133945" y="44671"/>
                  <a:pt x="133945" y="40217"/>
                </a:cubicBezTo>
                <a:cubicBezTo>
                  <a:pt x="133945" y="35763"/>
                  <a:pt x="130362" y="32180"/>
                  <a:pt x="125909" y="32180"/>
                </a:cubicBezTo>
                <a:lnTo>
                  <a:pt x="115628" y="32180"/>
                </a:lnTo>
                <a:cubicBezTo>
                  <a:pt x="112146" y="14198"/>
                  <a:pt x="104946" y="-5324"/>
                  <a:pt x="92757" y="-5324"/>
                </a:cubicBezTo>
                <a:cubicBezTo>
                  <a:pt x="89542" y="-5324"/>
                  <a:pt x="86395" y="-4018"/>
                  <a:pt x="83548" y="-2578"/>
                </a:cubicBezTo>
                <a:cubicBezTo>
                  <a:pt x="80803" y="-1206"/>
                  <a:pt x="77387" y="33"/>
                  <a:pt x="75009" y="33"/>
                </a:cubicBezTo>
                <a:cubicBezTo>
                  <a:pt x="72632" y="33"/>
                  <a:pt x="69216" y="-1206"/>
                  <a:pt x="66470" y="-2578"/>
                </a:cubicBezTo>
                <a:cubicBezTo>
                  <a:pt x="63624" y="-4052"/>
                  <a:pt x="60476" y="-5358"/>
                  <a:pt x="57262" y="-5358"/>
                </a:cubicBezTo>
                <a:close/>
                <a:moveTo>
                  <a:pt x="88638" y="156850"/>
                </a:moveTo>
                <a:lnTo>
                  <a:pt x="80334" y="133108"/>
                </a:lnTo>
                <a:lnTo>
                  <a:pt x="89676" y="122225"/>
                </a:lnTo>
                <a:cubicBezTo>
                  <a:pt x="90581" y="121154"/>
                  <a:pt x="91083" y="119814"/>
                  <a:pt x="91083" y="118408"/>
                </a:cubicBezTo>
                <a:cubicBezTo>
                  <a:pt x="91083" y="115159"/>
                  <a:pt x="88471" y="112548"/>
                  <a:pt x="85223" y="112548"/>
                </a:cubicBezTo>
                <a:lnTo>
                  <a:pt x="64796" y="112548"/>
                </a:lnTo>
                <a:cubicBezTo>
                  <a:pt x="61548" y="112548"/>
                  <a:pt x="58936" y="115159"/>
                  <a:pt x="58936" y="118408"/>
                </a:cubicBezTo>
                <a:cubicBezTo>
                  <a:pt x="58936" y="119814"/>
                  <a:pt x="59438" y="121154"/>
                  <a:pt x="60342" y="122225"/>
                </a:cubicBezTo>
                <a:lnTo>
                  <a:pt x="69685" y="133108"/>
                </a:lnTo>
                <a:lnTo>
                  <a:pt x="61380" y="156850"/>
                </a:lnTo>
                <a:lnTo>
                  <a:pt x="42293" y="96441"/>
                </a:lnTo>
                <a:lnTo>
                  <a:pt x="54248" y="96441"/>
                </a:lnTo>
                <a:cubicBezTo>
                  <a:pt x="60409" y="99856"/>
                  <a:pt x="67475" y="101798"/>
                  <a:pt x="75009" y="101798"/>
                </a:cubicBezTo>
                <a:cubicBezTo>
                  <a:pt x="82544" y="101798"/>
                  <a:pt x="89609" y="99856"/>
                  <a:pt x="95771" y="96441"/>
                </a:cubicBezTo>
                <a:lnTo>
                  <a:pt x="107726" y="96441"/>
                </a:lnTo>
                <a:lnTo>
                  <a:pt x="88638" y="156850"/>
                </a:lnTo>
                <a:close/>
                <a:moveTo>
                  <a:pt x="75009" y="85725"/>
                </a:moveTo>
                <a:cubicBezTo>
                  <a:pt x="63390" y="85725"/>
                  <a:pt x="53511" y="78325"/>
                  <a:pt x="49794" y="67977"/>
                </a:cubicBezTo>
                <a:cubicBezTo>
                  <a:pt x="51703" y="69049"/>
                  <a:pt x="53913" y="69652"/>
                  <a:pt x="56257" y="69652"/>
                </a:cubicBezTo>
                <a:lnTo>
                  <a:pt x="60409" y="69652"/>
                </a:lnTo>
                <a:cubicBezTo>
                  <a:pt x="65935" y="69652"/>
                  <a:pt x="70824" y="66102"/>
                  <a:pt x="72565" y="60878"/>
                </a:cubicBezTo>
                <a:cubicBezTo>
                  <a:pt x="73335" y="58534"/>
                  <a:pt x="76650" y="58534"/>
                  <a:pt x="77420" y="60878"/>
                </a:cubicBezTo>
                <a:cubicBezTo>
                  <a:pt x="79162" y="66102"/>
                  <a:pt x="84084" y="69652"/>
                  <a:pt x="89576" y="69652"/>
                </a:cubicBezTo>
                <a:lnTo>
                  <a:pt x="93728" y="69652"/>
                </a:lnTo>
                <a:cubicBezTo>
                  <a:pt x="96072" y="69652"/>
                  <a:pt x="98282" y="69049"/>
                  <a:pt x="100191" y="67977"/>
                </a:cubicBezTo>
                <a:cubicBezTo>
                  <a:pt x="96474" y="78325"/>
                  <a:pt x="86596" y="85725"/>
                  <a:pt x="74976" y="85725"/>
                </a:cubicBezTo>
                <a:close/>
              </a:path>
            </a:pathLst>
          </a:custGeom>
          <a:solidFill>
            <a:srgbClr val="2D5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1400" y="4146552"/>
            <a:ext cx="3990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Confidentiality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41400" y="4375152"/>
            <a:ext cx="3981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AF8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Encryption ensures only authorized parties can access file contents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46100" y="464185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FAF8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31825" y="4746627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45541" y="42863"/>
                </a:moveTo>
                <a:cubicBezTo>
                  <a:pt x="45541" y="20685"/>
                  <a:pt x="63547" y="2679"/>
                  <a:pt x="85725" y="2679"/>
                </a:cubicBezTo>
                <a:cubicBezTo>
                  <a:pt x="107903" y="2679"/>
                  <a:pt x="125909" y="20685"/>
                  <a:pt x="125909" y="42862"/>
                </a:cubicBezTo>
                <a:cubicBezTo>
                  <a:pt x="125909" y="65040"/>
                  <a:pt x="107903" y="83046"/>
                  <a:pt x="85725" y="83046"/>
                </a:cubicBezTo>
                <a:cubicBezTo>
                  <a:pt x="63547" y="83046"/>
                  <a:pt x="45541" y="65040"/>
                  <a:pt x="45541" y="42863"/>
                </a:cubicBezTo>
                <a:close/>
                <a:moveTo>
                  <a:pt x="16073" y="161505"/>
                </a:moveTo>
                <a:cubicBezTo>
                  <a:pt x="16073" y="128521"/>
                  <a:pt x="42796" y="101798"/>
                  <a:pt x="75780" y="101798"/>
                </a:cubicBezTo>
                <a:lnTo>
                  <a:pt x="95670" y="101798"/>
                </a:lnTo>
                <a:cubicBezTo>
                  <a:pt x="128654" y="101798"/>
                  <a:pt x="155377" y="128521"/>
                  <a:pt x="155377" y="161505"/>
                </a:cubicBezTo>
                <a:cubicBezTo>
                  <a:pt x="155377" y="166996"/>
                  <a:pt x="150923" y="171450"/>
                  <a:pt x="145431" y="171450"/>
                </a:cubicBezTo>
                <a:lnTo>
                  <a:pt x="26019" y="171450"/>
                </a:lnTo>
                <a:cubicBezTo>
                  <a:pt x="20527" y="171450"/>
                  <a:pt x="16073" y="166996"/>
                  <a:pt x="16073" y="161505"/>
                </a:cubicBezTo>
                <a:close/>
                <a:moveTo>
                  <a:pt x="205070" y="44436"/>
                </a:moveTo>
                <a:lnTo>
                  <a:pt x="178281" y="87299"/>
                </a:lnTo>
                <a:cubicBezTo>
                  <a:pt x="176875" y="89542"/>
                  <a:pt x="174464" y="90949"/>
                  <a:pt x="171818" y="91083"/>
                </a:cubicBezTo>
                <a:cubicBezTo>
                  <a:pt x="169173" y="91217"/>
                  <a:pt x="166628" y="90011"/>
                  <a:pt x="165054" y="87868"/>
                </a:cubicBezTo>
                <a:lnTo>
                  <a:pt x="148981" y="66437"/>
                </a:lnTo>
                <a:cubicBezTo>
                  <a:pt x="146302" y="62887"/>
                  <a:pt x="147038" y="57864"/>
                  <a:pt x="150588" y="55185"/>
                </a:cubicBezTo>
                <a:cubicBezTo>
                  <a:pt x="154138" y="52507"/>
                  <a:pt x="159161" y="53243"/>
                  <a:pt x="161839" y="56793"/>
                </a:cubicBezTo>
                <a:lnTo>
                  <a:pt x="170881" y="68848"/>
                </a:lnTo>
                <a:lnTo>
                  <a:pt x="191441" y="35931"/>
                </a:lnTo>
                <a:cubicBezTo>
                  <a:pt x="193785" y="32180"/>
                  <a:pt x="198741" y="31008"/>
                  <a:pt x="202525" y="33386"/>
                </a:cubicBezTo>
                <a:cubicBezTo>
                  <a:pt x="206309" y="35763"/>
                  <a:pt x="207448" y="40686"/>
                  <a:pt x="205070" y="44470"/>
                </a:cubicBezTo>
                <a:close/>
              </a:path>
            </a:pathLst>
          </a:custGeom>
          <a:solidFill>
            <a:srgbClr val="2D5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041400" y="4641852"/>
            <a:ext cx="3752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Authentication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041400" y="4870452"/>
            <a:ext cx="3743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AF8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Password verification confirms recipient identity before access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46100" y="513715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FAF8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53256" y="5241927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ubicBezTo>
                  <a:pt x="0" y="38412"/>
                  <a:pt x="38412" y="0"/>
                  <a:pt x="85725" y="0"/>
                </a:cubicBezTo>
                <a:close/>
                <a:moveTo>
                  <a:pt x="77688" y="40184"/>
                </a:moveTo>
                <a:lnTo>
                  <a:pt x="77688" y="85725"/>
                </a:lnTo>
                <a:cubicBezTo>
                  <a:pt x="77688" y="88404"/>
                  <a:pt x="79028" y="90915"/>
                  <a:pt x="81271" y="92422"/>
                </a:cubicBezTo>
                <a:lnTo>
                  <a:pt x="113418" y="113854"/>
                </a:lnTo>
                <a:cubicBezTo>
                  <a:pt x="117102" y="116332"/>
                  <a:pt x="122091" y="115327"/>
                  <a:pt x="124569" y="111610"/>
                </a:cubicBezTo>
                <a:cubicBezTo>
                  <a:pt x="127047" y="107893"/>
                  <a:pt x="126043" y="102937"/>
                  <a:pt x="122326" y="100459"/>
                </a:cubicBezTo>
                <a:lnTo>
                  <a:pt x="93762" y="81439"/>
                </a:lnTo>
                <a:lnTo>
                  <a:pt x="93762" y="40184"/>
                </a:lnTo>
                <a:cubicBezTo>
                  <a:pt x="93762" y="35730"/>
                  <a:pt x="90179" y="32147"/>
                  <a:pt x="85725" y="32147"/>
                </a:cubicBezTo>
                <a:cubicBezTo>
                  <a:pt x="81271" y="32147"/>
                  <a:pt x="77688" y="35730"/>
                  <a:pt x="77688" y="40184"/>
                </a:cubicBezTo>
                <a:close/>
              </a:path>
            </a:pathLst>
          </a:custGeom>
          <a:solidFill>
            <a:srgbClr val="2D5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041400" y="5137152"/>
            <a:ext cx="3181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Controlled Access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041400" y="5365752"/>
            <a:ext cx="3171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AF8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 limits prevent indefinite access to sensitive files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178550" y="1371602"/>
            <a:ext cx="5622925" cy="2565400"/>
          </a:xfrm>
          <a:custGeom>
            <a:avLst/>
            <a:gdLst/>
            <a:ahLst/>
            <a:cxnLst/>
            <a:rect l="l" t="t" r="r" b="b"/>
            <a:pathLst>
              <a:path w="5622925" h="2565400">
                <a:moveTo>
                  <a:pt x="0" y="0"/>
                </a:moveTo>
                <a:lnTo>
                  <a:pt x="5622925" y="0"/>
                </a:lnTo>
                <a:lnTo>
                  <a:pt x="5622925" y="2565400"/>
                </a:lnTo>
                <a:lnTo>
                  <a:pt x="0" y="2565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 w="16933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337300" y="1530353"/>
            <a:ext cx="539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Demonstration Goals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337300" y="187325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2D5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299200" y="1873253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756400" y="1873253"/>
            <a:ext cx="3629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Encryption Implementation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756400" y="2101853"/>
            <a:ext cx="361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Showcase file encryption using  XOR-standard algorithms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337300" y="236855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7D9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299200" y="2368553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756400" y="2368553"/>
            <a:ext cx="2867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Authentication Mechanisms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756400" y="2597153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Demonstrate secure user verification processes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337300" y="286385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6299200" y="2863853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756400" y="2863853"/>
            <a:ext cx="3181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Time-Based Access Control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756400" y="3092453"/>
            <a:ext cx="3171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 and test automatic file expiry functionality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337300" y="335915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2D5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6299200" y="3359153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6756400" y="3359153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Secure File Handling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6756400" y="3587753"/>
            <a:ext cx="3257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Demonstrate proper secure file management practices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178550" y="4102100"/>
            <a:ext cx="5622925" cy="1689100"/>
          </a:xfrm>
          <a:custGeom>
            <a:avLst/>
            <a:gdLst/>
            <a:ahLst/>
            <a:cxnLst/>
            <a:rect l="l" t="t" r="r" b="b"/>
            <a:pathLst>
              <a:path w="5622925" h="1689100">
                <a:moveTo>
                  <a:pt x="0" y="0"/>
                </a:moveTo>
                <a:lnTo>
                  <a:pt x="5622925" y="0"/>
                </a:lnTo>
                <a:lnTo>
                  <a:pt x="5622925" y="1689100"/>
                </a:lnTo>
                <a:lnTo>
                  <a:pt x="0" y="16891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 w="16933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6337300" y="4260852"/>
            <a:ext cx="539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Expected Learning Outcomes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6346825" y="4641852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4288" y="58281"/>
                </a:moveTo>
                <a:lnTo>
                  <a:pt x="76557" y="83909"/>
                </a:lnTo>
                <a:cubicBezTo>
                  <a:pt x="79474" y="85100"/>
                  <a:pt x="82570" y="85725"/>
                  <a:pt x="85725" y="85725"/>
                </a:cubicBezTo>
                <a:cubicBezTo>
                  <a:pt x="88880" y="85725"/>
                  <a:pt x="91976" y="85100"/>
                  <a:pt x="94893" y="83909"/>
                </a:cubicBezTo>
                <a:lnTo>
                  <a:pt x="167045" y="54203"/>
                </a:lnTo>
                <a:cubicBezTo>
                  <a:pt x="169724" y="53102"/>
                  <a:pt x="171450" y="50512"/>
                  <a:pt x="171450" y="47625"/>
                </a:cubicBezTo>
                <a:cubicBezTo>
                  <a:pt x="171450" y="44738"/>
                  <a:pt x="169724" y="42148"/>
                  <a:pt x="167045" y="41047"/>
                </a:cubicBezTo>
                <a:lnTo>
                  <a:pt x="94893" y="11341"/>
                </a:lnTo>
                <a:cubicBezTo>
                  <a:pt x="91976" y="10150"/>
                  <a:pt x="88880" y="9525"/>
                  <a:pt x="85725" y="9525"/>
                </a:cubicBezTo>
                <a:cubicBezTo>
                  <a:pt x="82570" y="9525"/>
                  <a:pt x="79474" y="10150"/>
                  <a:pt x="76557" y="11341"/>
                </a:cubicBezTo>
                <a:lnTo>
                  <a:pt x="4405" y="41047"/>
                </a:lnTo>
                <a:cubicBezTo>
                  <a:pt x="1726" y="42148"/>
                  <a:pt x="0" y="44738"/>
                  <a:pt x="0" y="47625"/>
                </a:cubicBezTo>
                <a:lnTo>
                  <a:pt x="0" y="135731"/>
                </a:lnTo>
                <a:cubicBezTo>
                  <a:pt x="0" y="139690"/>
                  <a:pt x="3185" y="142875"/>
                  <a:pt x="7144" y="142875"/>
                </a:cubicBezTo>
                <a:cubicBezTo>
                  <a:pt x="11103" y="142875"/>
                  <a:pt x="14288" y="139690"/>
                  <a:pt x="14288" y="135731"/>
                </a:cubicBezTo>
                <a:lnTo>
                  <a:pt x="14288" y="58281"/>
                </a:lnTo>
                <a:close/>
                <a:moveTo>
                  <a:pt x="28575" y="79623"/>
                </a:moveTo>
                <a:lnTo>
                  <a:pt x="28575" y="114300"/>
                </a:lnTo>
                <a:cubicBezTo>
                  <a:pt x="28575" y="130076"/>
                  <a:pt x="54173" y="142875"/>
                  <a:pt x="85725" y="142875"/>
                </a:cubicBezTo>
                <a:cubicBezTo>
                  <a:pt x="117277" y="142875"/>
                  <a:pt x="142875" y="130076"/>
                  <a:pt x="142875" y="114300"/>
                </a:cubicBezTo>
                <a:lnTo>
                  <a:pt x="142875" y="79593"/>
                </a:lnTo>
                <a:lnTo>
                  <a:pt x="100340" y="97125"/>
                </a:lnTo>
                <a:cubicBezTo>
                  <a:pt x="95696" y="99030"/>
                  <a:pt x="90755" y="100012"/>
                  <a:pt x="85725" y="100012"/>
                </a:cubicBezTo>
                <a:cubicBezTo>
                  <a:pt x="80695" y="100012"/>
                  <a:pt x="75754" y="99030"/>
                  <a:pt x="71110" y="97125"/>
                </a:cubicBezTo>
                <a:lnTo>
                  <a:pt x="28575" y="79593"/>
                </a:lnTo>
                <a:close/>
              </a:path>
            </a:pathLst>
          </a:custGeom>
          <a:solidFill>
            <a:srgbClr val="2D5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6604000" y="4603752"/>
            <a:ext cx="3495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Practical understanding of cryptographic principles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6346825" y="4908552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4288" y="58281"/>
                </a:moveTo>
                <a:lnTo>
                  <a:pt x="76557" y="83909"/>
                </a:lnTo>
                <a:cubicBezTo>
                  <a:pt x="79474" y="85100"/>
                  <a:pt x="82570" y="85725"/>
                  <a:pt x="85725" y="85725"/>
                </a:cubicBezTo>
                <a:cubicBezTo>
                  <a:pt x="88880" y="85725"/>
                  <a:pt x="91976" y="85100"/>
                  <a:pt x="94893" y="83909"/>
                </a:cubicBezTo>
                <a:lnTo>
                  <a:pt x="167045" y="54203"/>
                </a:lnTo>
                <a:cubicBezTo>
                  <a:pt x="169724" y="53102"/>
                  <a:pt x="171450" y="50512"/>
                  <a:pt x="171450" y="47625"/>
                </a:cubicBezTo>
                <a:cubicBezTo>
                  <a:pt x="171450" y="44738"/>
                  <a:pt x="169724" y="42148"/>
                  <a:pt x="167045" y="41047"/>
                </a:cubicBezTo>
                <a:lnTo>
                  <a:pt x="94893" y="11341"/>
                </a:lnTo>
                <a:cubicBezTo>
                  <a:pt x="91976" y="10150"/>
                  <a:pt x="88880" y="9525"/>
                  <a:pt x="85725" y="9525"/>
                </a:cubicBezTo>
                <a:cubicBezTo>
                  <a:pt x="82570" y="9525"/>
                  <a:pt x="79474" y="10150"/>
                  <a:pt x="76557" y="11341"/>
                </a:cubicBezTo>
                <a:lnTo>
                  <a:pt x="4405" y="41047"/>
                </a:lnTo>
                <a:cubicBezTo>
                  <a:pt x="1726" y="42148"/>
                  <a:pt x="0" y="44738"/>
                  <a:pt x="0" y="47625"/>
                </a:cubicBezTo>
                <a:lnTo>
                  <a:pt x="0" y="135731"/>
                </a:lnTo>
                <a:cubicBezTo>
                  <a:pt x="0" y="139690"/>
                  <a:pt x="3185" y="142875"/>
                  <a:pt x="7144" y="142875"/>
                </a:cubicBezTo>
                <a:cubicBezTo>
                  <a:pt x="11103" y="142875"/>
                  <a:pt x="14288" y="139690"/>
                  <a:pt x="14288" y="135731"/>
                </a:cubicBezTo>
                <a:lnTo>
                  <a:pt x="14288" y="58281"/>
                </a:lnTo>
                <a:close/>
                <a:moveTo>
                  <a:pt x="28575" y="79623"/>
                </a:moveTo>
                <a:lnTo>
                  <a:pt x="28575" y="114300"/>
                </a:lnTo>
                <a:cubicBezTo>
                  <a:pt x="28575" y="130076"/>
                  <a:pt x="54173" y="142875"/>
                  <a:pt x="85725" y="142875"/>
                </a:cubicBezTo>
                <a:cubicBezTo>
                  <a:pt x="117277" y="142875"/>
                  <a:pt x="142875" y="130076"/>
                  <a:pt x="142875" y="114300"/>
                </a:cubicBezTo>
                <a:lnTo>
                  <a:pt x="142875" y="79593"/>
                </a:lnTo>
                <a:lnTo>
                  <a:pt x="100340" y="97125"/>
                </a:lnTo>
                <a:cubicBezTo>
                  <a:pt x="95696" y="99030"/>
                  <a:pt x="90755" y="100012"/>
                  <a:pt x="85725" y="100012"/>
                </a:cubicBezTo>
                <a:cubicBezTo>
                  <a:pt x="80695" y="100012"/>
                  <a:pt x="75754" y="99030"/>
                  <a:pt x="71110" y="97125"/>
                </a:cubicBezTo>
                <a:lnTo>
                  <a:pt x="28575" y="79593"/>
                </a:lnTo>
                <a:close/>
              </a:path>
            </a:pathLst>
          </a:custGeom>
          <a:solidFill>
            <a:srgbClr val="2D5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6604000" y="4870452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Experience with access control system design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6346825" y="5175252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4288" y="58281"/>
                </a:moveTo>
                <a:lnTo>
                  <a:pt x="76557" y="83909"/>
                </a:lnTo>
                <a:cubicBezTo>
                  <a:pt x="79474" y="85100"/>
                  <a:pt x="82570" y="85725"/>
                  <a:pt x="85725" y="85725"/>
                </a:cubicBezTo>
                <a:cubicBezTo>
                  <a:pt x="88880" y="85725"/>
                  <a:pt x="91976" y="85100"/>
                  <a:pt x="94893" y="83909"/>
                </a:cubicBezTo>
                <a:lnTo>
                  <a:pt x="167045" y="54203"/>
                </a:lnTo>
                <a:cubicBezTo>
                  <a:pt x="169724" y="53102"/>
                  <a:pt x="171450" y="50512"/>
                  <a:pt x="171450" y="47625"/>
                </a:cubicBezTo>
                <a:cubicBezTo>
                  <a:pt x="171450" y="44738"/>
                  <a:pt x="169724" y="42148"/>
                  <a:pt x="167045" y="41047"/>
                </a:cubicBezTo>
                <a:lnTo>
                  <a:pt x="94893" y="11341"/>
                </a:lnTo>
                <a:cubicBezTo>
                  <a:pt x="91976" y="10150"/>
                  <a:pt x="88880" y="9525"/>
                  <a:pt x="85725" y="9525"/>
                </a:cubicBezTo>
                <a:cubicBezTo>
                  <a:pt x="82570" y="9525"/>
                  <a:pt x="79474" y="10150"/>
                  <a:pt x="76557" y="11341"/>
                </a:cubicBezTo>
                <a:lnTo>
                  <a:pt x="4405" y="41047"/>
                </a:lnTo>
                <a:cubicBezTo>
                  <a:pt x="1726" y="42148"/>
                  <a:pt x="0" y="44738"/>
                  <a:pt x="0" y="47625"/>
                </a:cubicBezTo>
                <a:lnTo>
                  <a:pt x="0" y="135731"/>
                </a:lnTo>
                <a:cubicBezTo>
                  <a:pt x="0" y="139690"/>
                  <a:pt x="3185" y="142875"/>
                  <a:pt x="7144" y="142875"/>
                </a:cubicBezTo>
                <a:cubicBezTo>
                  <a:pt x="11103" y="142875"/>
                  <a:pt x="14288" y="139690"/>
                  <a:pt x="14288" y="135731"/>
                </a:cubicBezTo>
                <a:lnTo>
                  <a:pt x="14288" y="58281"/>
                </a:lnTo>
                <a:close/>
                <a:moveTo>
                  <a:pt x="28575" y="79623"/>
                </a:moveTo>
                <a:lnTo>
                  <a:pt x="28575" y="114300"/>
                </a:lnTo>
                <a:cubicBezTo>
                  <a:pt x="28575" y="130076"/>
                  <a:pt x="54173" y="142875"/>
                  <a:pt x="85725" y="142875"/>
                </a:cubicBezTo>
                <a:cubicBezTo>
                  <a:pt x="117277" y="142875"/>
                  <a:pt x="142875" y="130076"/>
                  <a:pt x="142875" y="114300"/>
                </a:cubicBezTo>
                <a:lnTo>
                  <a:pt x="142875" y="79593"/>
                </a:lnTo>
                <a:lnTo>
                  <a:pt x="100340" y="97125"/>
                </a:lnTo>
                <a:cubicBezTo>
                  <a:pt x="95696" y="99030"/>
                  <a:pt x="90755" y="100012"/>
                  <a:pt x="85725" y="100012"/>
                </a:cubicBezTo>
                <a:cubicBezTo>
                  <a:pt x="80695" y="100012"/>
                  <a:pt x="75754" y="99030"/>
                  <a:pt x="71110" y="97125"/>
                </a:cubicBezTo>
                <a:lnTo>
                  <a:pt x="28575" y="79593"/>
                </a:lnTo>
                <a:close/>
              </a:path>
            </a:pathLst>
          </a:custGeom>
          <a:solidFill>
            <a:srgbClr val="2D5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6604000" y="5137152"/>
            <a:ext cx="3676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of secure software development practices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6346825" y="5441952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4288" y="58281"/>
                </a:moveTo>
                <a:lnTo>
                  <a:pt x="76557" y="83909"/>
                </a:lnTo>
                <a:cubicBezTo>
                  <a:pt x="79474" y="85100"/>
                  <a:pt x="82570" y="85725"/>
                  <a:pt x="85725" y="85725"/>
                </a:cubicBezTo>
                <a:cubicBezTo>
                  <a:pt x="88880" y="85725"/>
                  <a:pt x="91976" y="85100"/>
                  <a:pt x="94893" y="83909"/>
                </a:cubicBezTo>
                <a:lnTo>
                  <a:pt x="167045" y="54203"/>
                </a:lnTo>
                <a:cubicBezTo>
                  <a:pt x="169724" y="53102"/>
                  <a:pt x="171450" y="50512"/>
                  <a:pt x="171450" y="47625"/>
                </a:cubicBezTo>
                <a:cubicBezTo>
                  <a:pt x="171450" y="44738"/>
                  <a:pt x="169724" y="42148"/>
                  <a:pt x="167045" y="41047"/>
                </a:cubicBezTo>
                <a:lnTo>
                  <a:pt x="94893" y="11341"/>
                </a:lnTo>
                <a:cubicBezTo>
                  <a:pt x="91976" y="10150"/>
                  <a:pt x="88880" y="9525"/>
                  <a:pt x="85725" y="9525"/>
                </a:cubicBezTo>
                <a:cubicBezTo>
                  <a:pt x="82570" y="9525"/>
                  <a:pt x="79474" y="10150"/>
                  <a:pt x="76557" y="11341"/>
                </a:cubicBezTo>
                <a:lnTo>
                  <a:pt x="4405" y="41047"/>
                </a:lnTo>
                <a:cubicBezTo>
                  <a:pt x="1726" y="42148"/>
                  <a:pt x="0" y="44738"/>
                  <a:pt x="0" y="47625"/>
                </a:cubicBezTo>
                <a:lnTo>
                  <a:pt x="0" y="135731"/>
                </a:lnTo>
                <a:cubicBezTo>
                  <a:pt x="0" y="139690"/>
                  <a:pt x="3185" y="142875"/>
                  <a:pt x="7144" y="142875"/>
                </a:cubicBezTo>
                <a:cubicBezTo>
                  <a:pt x="11103" y="142875"/>
                  <a:pt x="14288" y="139690"/>
                  <a:pt x="14288" y="135731"/>
                </a:cubicBezTo>
                <a:lnTo>
                  <a:pt x="14288" y="58281"/>
                </a:lnTo>
                <a:close/>
                <a:moveTo>
                  <a:pt x="28575" y="79623"/>
                </a:moveTo>
                <a:lnTo>
                  <a:pt x="28575" y="114300"/>
                </a:lnTo>
                <a:cubicBezTo>
                  <a:pt x="28575" y="130076"/>
                  <a:pt x="54173" y="142875"/>
                  <a:pt x="85725" y="142875"/>
                </a:cubicBezTo>
                <a:cubicBezTo>
                  <a:pt x="117277" y="142875"/>
                  <a:pt x="142875" y="130076"/>
                  <a:pt x="142875" y="114300"/>
                </a:cubicBezTo>
                <a:lnTo>
                  <a:pt x="142875" y="79593"/>
                </a:lnTo>
                <a:lnTo>
                  <a:pt x="100340" y="97125"/>
                </a:lnTo>
                <a:cubicBezTo>
                  <a:pt x="95696" y="99030"/>
                  <a:pt x="90755" y="100012"/>
                  <a:pt x="85725" y="100012"/>
                </a:cubicBezTo>
                <a:cubicBezTo>
                  <a:pt x="80695" y="100012"/>
                  <a:pt x="75754" y="99030"/>
                  <a:pt x="71110" y="97125"/>
                </a:cubicBezTo>
                <a:lnTo>
                  <a:pt x="28575" y="79593"/>
                </a:lnTo>
                <a:close/>
              </a:path>
            </a:pathLst>
          </a:custGeom>
          <a:solidFill>
            <a:srgbClr val="2D5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6604000" y="5403852"/>
            <a:ext cx="3676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Ability to implement time-based security mechanisms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03c76eae696cb8a79756b2972dd3a277542ac8c3.jp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0" y="0"/>
            <a:ext cx="3048000" cy="228600"/>
          </a:xfrm>
          <a:prstGeom prst="roundRect">
            <a:avLst>
              <a:gd name="adj" fmla="val 0"/>
            </a:avLst>
          </a:prstGeom>
        </p:spPr>
      </p:pic>
      <p:sp>
        <p:nvSpPr>
          <p:cNvPr id="4" name="Text 1"/>
          <p:cNvSpPr/>
          <p:nvPr/>
        </p:nvSpPr>
        <p:spPr>
          <a:xfrm>
            <a:off x="10854035" y="1946277"/>
            <a:ext cx="942975" cy="24765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 algn="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0626527" y="2435228"/>
            <a:ext cx="1181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54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369844" y="3349628"/>
            <a:ext cx="5438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3600" b="1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Implementation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287000" y="4035428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295900" y="4302128"/>
            <a:ext cx="6515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800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Desktop-based system architecture with comprehensive security components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b17d82964f86d86d59fee25f1af3246e66e11a20.jpg"/>
          <p:cNvPicPr>
            <a:picLocks noChangeAspect="1"/>
          </p:cNvPicPr>
          <p:nvPr/>
        </p:nvPicPr>
        <p:blipFill>
          <a:blip r:embed="rId3">
            <a:alphaModFix amt="10000"/>
          </a:blip>
          <a:srcRect t="107" b="107"/>
          <a:stretch/>
        </p:blipFill>
        <p:spPr>
          <a:xfrm>
            <a:off x="9450901" y="4664826"/>
            <a:ext cx="2738920" cy="2187332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383576" y="383576"/>
            <a:ext cx="1765716" cy="253604"/>
          </a:xfrm>
          <a:custGeom>
            <a:avLst/>
            <a:gdLst/>
            <a:ahLst/>
            <a:cxnLst/>
            <a:rect l="l" t="t" r="r" b="b"/>
            <a:pathLst>
              <a:path w="1765716" h="253604">
                <a:moveTo>
                  <a:pt x="0" y="0"/>
                </a:moveTo>
                <a:lnTo>
                  <a:pt x="1765716" y="0"/>
                </a:lnTo>
                <a:lnTo>
                  <a:pt x="1765716" y="253604"/>
                </a:lnTo>
                <a:lnTo>
                  <a:pt x="0" y="253604"/>
                </a:lnTo>
                <a:lnTo>
                  <a:pt x="0" y="0"/>
                </a:lnTo>
                <a:close/>
              </a:path>
            </a:pathLst>
          </a:custGeom>
          <a:solidFill>
            <a:srgbClr val="FAF8F3">
              <a:alpha val="80000"/>
            </a:srgbClr>
          </a:solidFill>
          <a:ln w="8467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80406" y="380406"/>
            <a:ext cx="1816437" cy="247264"/>
          </a:xfrm>
          <a:prstGeom prst="rect">
            <a:avLst/>
          </a:prstGeom>
          <a:noFill/>
          <a:ln/>
        </p:spPr>
        <p:txBody>
          <a:bodyPr wrap="square" lIns="114122" tIns="38041" rIns="114122" bIns="38041" rtlCol="0" anchor="ctr"/>
          <a:lstStyle/>
          <a:p>
            <a:pPr>
              <a:lnSpc>
                <a:spcPct val="130000"/>
              </a:lnSpc>
            </a:pPr>
            <a:r>
              <a:rPr lang="en-US" sz="899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 / Technical Implementation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0406" y="754473"/>
            <a:ext cx="11602371" cy="38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96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 &amp; Components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0406" y="1249000"/>
            <a:ext cx="912973" cy="38041"/>
          </a:xfrm>
          <a:custGeom>
            <a:avLst/>
            <a:gdLst/>
            <a:ahLst/>
            <a:cxnLst/>
            <a:rect l="l" t="t" r="r" b="b"/>
            <a:pathLst>
              <a:path w="912973" h="38041">
                <a:moveTo>
                  <a:pt x="0" y="0"/>
                </a:moveTo>
                <a:lnTo>
                  <a:pt x="912973" y="0"/>
                </a:lnTo>
                <a:lnTo>
                  <a:pt x="912973" y="38041"/>
                </a:lnTo>
                <a:lnTo>
                  <a:pt x="0" y="38041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86746" y="1369462"/>
            <a:ext cx="6783900" cy="2104911"/>
          </a:xfrm>
          <a:custGeom>
            <a:avLst/>
            <a:gdLst/>
            <a:ahLst/>
            <a:cxnLst/>
            <a:rect l="l" t="t" r="r" b="b"/>
            <a:pathLst>
              <a:path w="6783900" h="2104911">
                <a:moveTo>
                  <a:pt x="0" y="0"/>
                </a:moveTo>
                <a:lnTo>
                  <a:pt x="6783900" y="0"/>
                </a:lnTo>
                <a:lnTo>
                  <a:pt x="6783900" y="2104911"/>
                </a:lnTo>
                <a:lnTo>
                  <a:pt x="0" y="2104911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 w="16933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73778" y="1546986"/>
            <a:ext cx="228243" cy="228243"/>
          </a:xfrm>
          <a:custGeom>
            <a:avLst/>
            <a:gdLst/>
            <a:ahLst/>
            <a:cxnLst/>
            <a:rect l="l" t="t" r="r" b="b"/>
            <a:pathLst>
              <a:path w="228243" h="228243">
                <a:moveTo>
                  <a:pt x="28530" y="14265"/>
                </a:moveTo>
                <a:cubicBezTo>
                  <a:pt x="12794" y="14265"/>
                  <a:pt x="0" y="27059"/>
                  <a:pt x="0" y="42796"/>
                </a:cubicBezTo>
                <a:lnTo>
                  <a:pt x="0" y="156917"/>
                </a:lnTo>
                <a:cubicBezTo>
                  <a:pt x="0" y="172654"/>
                  <a:pt x="12794" y="185448"/>
                  <a:pt x="28530" y="185448"/>
                </a:cubicBezTo>
                <a:lnTo>
                  <a:pt x="92724" y="185448"/>
                </a:lnTo>
                <a:lnTo>
                  <a:pt x="85591" y="206846"/>
                </a:lnTo>
                <a:lnTo>
                  <a:pt x="53495" y="206846"/>
                </a:lnTo>
                <a:cubicBezTo>
                  <a:pt x="47566" y="206846"/>
                  <a:pt x="42796" y="211615"/>
                  <a:pt x="42796" y="217544"/>
                </a:cubicBezTo>
                <a:cubicBezTo>
                  <a:pt x="42796" y="223473"/>
                  <a:pt x="47566" y="228243"/>
                  <a:pt x="53495" y="228243"/>
                </a:cubicBezTo>
                <a:lnTo>
                  <a:pt x="174749" y="228243"/>
                </a:lnTo>
                <a:cubicBezTo>
                  <a:pt x="180678" y="228243"/>
                  <a:pt x="185448" y="223473"/>
                  <a:pt x="185448" y="217544"/>
                </a:cubicBezTo>
                <a:cubicBezTo>
                  <a:pt x="185448" y="211615"/>
                  <a:pt x="180678" y="206846"/>
                  <a:pt x="174749" y="206846"/>
                </a:cubicBezTo>
                <a:lnTo>
                  <a:pt x="142652" y="206846"/>
                </a:lnTo>
                <a:lnTo>
                  <a:pt x="135520" y="185448"/>
                </a:lnTo>
                <a:lnTo>
                  <a:pt x="199713" y="185448"/>
                </a:lnTo>
                <a:cubicBezTo>
                  <a:pt x="215449" y="185448"/>
                  <a:pt x="228243" y="172654"/>
                  <a:pt x="228243" y="156917"/>
                </a:cubicBezTo>
                <a:lnTo>
                  <a:pt x="228243" y="42796"/>
                </a:lnTo>
                <a:cubicBezTo>
                  <a:pt x="228243" y="27059"/>
                  <a:pt x="215449" y="14265"/>
                  <a:pt x="199713" y="14265"/>
                </a:cubicBezTo>
                <a:lnTo>
                  <a:pt x="28530" y="14265"/>
                </a:lnTo>
                <a:close/>
                <a:moveTo>
                  <a:pt x="42796" y="42796"/>
                </a:moveTo>
                <a:lnTo>
                  <a:pt x="185448" y="42796"/>
                </a:lnTo>
                <a:cubicBezTo>
                  <a:pt x="193338" y="42796"/>
                  <a:pt x="199713" y="49170"/>
                  <a:pt x="199713" y="57061"/>
                </a:cubicBezTo>
                <a:lnTo>
                  <a:pt x="199713" y="128387"/>
                </a:lnTo>
                <a:cubicBezTo>
                  <a:pt x="199713" y="136277"/>
                  <a:pt x="193338" y="142652"/>
                  <a:pt x="185448" y="142652"/>
                </a:cubicBezTo>
                <a:lnTo>
                  <a:pt x="42796" y="142652"/>
                </a:lnTo>
                <a:cubicBezTo>
                  <a:pt x="34905" y="142652"/>
                  <a:pt x="28530" y="136277"/>
                  <a:pt x="28530" y="128387"/>
                </a:cubicBezTo>
                <a:lnTo>
                  <a:pt x="28530" y="57061"/>
                </a:lnTo>
                <a:cubicBezTo>
                  <a:pt x="28530" y="49170"/>
                  <a:pt x="34905" y="42796"/>
                  <a:pt x="42796" y="42796"/>
                </a:cubicBezTo>
                <a:close/>
              </a:path>
            </a:pathLst>
          </a:custGeom>
          <a:solidFill>
            <a:srgbClr val="2D5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44674" y="1527966"/>
            <a:ext cx="1559663" cy="26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8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Overview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5248" y="1870331"/>
            <a:ext cx="6542977" cy="684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project will implement a desktop-based system that allows users to securely share files with restricted access time.</a:t>
            </a:r>
            <a:r>
              <a:rPr lang="en-US" sz="1198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system provides a comprehensive solution for secure file distribution with XOR based encryption and access control mechanisms.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5248" y="2631142"/>
            <a:ext cx="6542977" cy="684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application will be developed as a standalone desktop application, ensuring that all file processing occurs locally without relying on external cloud services or internet connectivity for core security functions.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86746" y="3601173"/>
            <a:ext cx="6783900" cy="1610384"/>
          </a:xfrm>
          <a:custGeom>
            <a:avLst/>
            <a:gdLst/>
            <a:ahLst/>
            <a:cxnLst/>
            <a:rect l="l" t="t" r="r" b="b"/>
            <a:pathLst>
              <a:path w="6783900" h="1610384">
                <a:moveTo>
                  <a:pt x="0" y="0"/>
                </a:moveTo>
                <a:lnTo>
                  <a:pt x="6783900" y="0"/>
                </a:lnTo>
                <a:lnTo>
                  <a:pt x="6783900" y="1610384"/>
                </a:lnTo>
                <a:lnTo>
                  <a:pt x="0" y="1610384"/>
                </a:lnTo>
                <a:lnTo>
                  <a:pt x="0" y="0"/>
                </a:lnTo>
                <a:close/>
              </a:path>
            </a:pathLst>
          </a:custGeom>
          <a:solidFill>
            <a:srgbClr val="2D5A3D"/>
          </a:solidFill>
          <a:ln w="16933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45248" y="3759677"/>
            <a:ext cx="6552487" cy="26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8" b="1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System Components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5248" y="4102042"/>
            <a:ext cx="304324" cy="304324"/>
          </a:xfrm>
          <a:custGeom>
            <a:avLst/>
            <a:gdLst/>
            <a:ahLst/>
            <a:cxnLst/>
            <a:rect l="l" t="t" r="r" b="b"/>
            <a:pathLst>
              <a:path w="304324" h="304324">
                <a:moveTo>
                  <a:pt x="0" y="0"/>
                </a:moveTo>
                <a:lnTo>
                  <a:pt x="304324" y="0"/>
                </a:lnTo>
                <a:lnTo>
                  <a:pt x="304324" y="304324"/>
                </a:lnTo>
                <a:lnTo>
                  <a:pt x="0" y="304324"/>
                </a:lnTo>
                <a:lnTo>
                  <a:pt x="0" y="0"/>
                </a:lnTo>
                <a:close/>
              </a:path>
            </a:pathLst>
          </a:custGeom>
          <a:solidFill>
            <a:srgbClr val="FAF8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11819" y="4178123"/>
            <a:ext cx="171183" cy="152162"/>
          </a:xfrm>
          <a:custGeom>
            <a:avLst/>
            <a:gdLst/>
            <a:ahLst/>
            <a:cxnLst/>
            <a:rect l="l" t="t" r="r" b="b"/>
            <a:pathLst>
              <a:path w="171183" h="152162">
                <a:moveTo>
                  <a:pt x="28530" y="0"/>
                </a:moveTo>
                <a:cubicBezTo>
                  <a:pt x="18040" y="0"/>
                  <a:pt x="9510" y="8529"/>
                  <a:pt x="9510" y="19020"/>
                </a:cubicBezTo>
                <a:lnTo>
                  <a:pt x="9510" y="133142"/>
                </a:lnTo>
                <a:cubicBezTo>
                  <a:pt x="9510" y="143633"/>
                  <a:pt x="18040" y="152162"/>
                  <a:pt x="28530" y="152162"/>
                </a:cubicBezTo>
                <a:lnTo>
                  <a:pt x="88325" y="152162"/>
                </a:lnTo>
                <a:cubicBezTo>
                  <a:pt x="77567" y="139502"/>
                  <a:pt x="71326" y="123186"/>
                  <a:pt x="71326" y="105919"/>
                </a:cubicBezTo>
                <a:lnTo>
                  <a:pt x="71326" y="96677"/>
                </a:lnTo>
                <a:cubicBezTo>
                  <a:pt x="71326" y="86453"/>
                  <a:pt x="77864" y="77359"/>
                  <a:pt x="87582" y="74120"/>
                </a:cubicBezTo>
                <a:lnTo>
                  <a:pt x="120868" y="63034"/>
                </a:lnTo>
                <a:cubicBezTo>
                  <a:pt x="121789" y="62737"/>
                  <a:pt x="122711" y="62499"/>
                  <a:pt x="123632" y="62291"/>
                </a:cubicBezTo>
                <a:lnTo>
                  <a:pt x="123632" y="50671"/>
                </a:lnTo>
                <a:cubicBezTo>
                  <a:pt x="123632" y="45619"/>
                  <a:pt x="121641" y="40775"/>
                  <a:pt x="118074" y="37208"/>
                </a:cubicBezTo>
                <a:lnTo>
                  <a:pt x="86394" y="5557"/>
                </a:lnTo>
                <a:cubicBezTo>
                  <a:pt x="82827" y="1991"/>
                  <a:pt x="78013" y="0"/>
                  <a:pt x="72961" y="0"/>
                </a:cubicBezTo>
                <a:lnTo>
                  <a:pt x="28530" y="0"/>
                </a:lnTo>
                <a:close/>
                <a:moveTo>
                  <a:pt x="106246" y="52306"/>
                </a:moveTo>
                <a:lnTo>
                  <a:pt x="78459" y="52306"/>
                </a:lnTo>
                <a:cubicBezTo>
                  <a:pt x="74506" y="52306"/>
                  <a:pt x="71326" y="49126"/>
                  <a:pt x="71326" y="45173"/>
                </a:cubicBezTo>
                <a:lnTo>
                  <a:pt x="71326" y="17386"/>
                </a:lnTo>
                <a:lnTo>
                  <a:pt x="106246" y="52306"/>
                </a:lnTo>
                <a:close/>
                <a:moveTo>
                  <a:pt x="132340" y="145178"/>
                </a:moveTo>
                <a:lnTo>
                  <a:pt x="128387" y="147051"/>
                </a:lnTo>
                <a:lnTo>
                  <a:pt x="128387" y="91149"/>
                </a:lnTo>
                <a:lnTo>
                  <a:pt x="156917" y="100659"/>
                </a:lnTo>
                <a:lnTo>
                  <a:pt x="156917" y="106484"/>
                </a:lnTo>
                <a:cubicBezTo>
                  <a:pt x="156917" y="123067"/>
                  <a:pt x="147348" y="138135"/>
                  <a:pt x="132340" y="145208"/>
                </a:cubicBezTo>
                <a:close/>
                <a:moveTo>
                  <a:pt x="125385" y="77121"/>
                </a:moveTo>
                <a:lnTo>
                  <a:pt x="92100" y="88207"/>
                </a:lnTo>
                <a:cubicBezTo>
                  <a:pt x="88207" y="89514"/>
                  <a:pt x="85591" y="93140"/>
                  <a:pt x="85591" y="97241"/>
                </a:cubicBezTo>
                <a:lnTo>
                  <a:pt x="85591" y="106484"/>
                </a:lnTo>
                <a:cubicBezTo>
                  <a:pt x="85591" y="128595"/>
                  <a:pt x="98371" y="148715"/>
                  <a:pt x="118342" y="158106"/>
                </a:cubicBezTo>
                <a:lnTo>
                  <a:pt x="123840" y="160692"/>
                </a:lnTo>
                <a:cubicBezTo>
                  <a:pt x="125266" y="161345"/>
                  <a:pt x="126812" y="161702"/>
                  <a:pt x="128357" y="161702"/>
                </a:cubicBezTo>
                <a:cubicBezTo>
                  <a:pt x="129903" y="161702"/>
                  <a:pt x="131478" y="161345"/>
                  <a:pt x="132874" y="160692"/>
                </a:cubicBezTo>
                <a:lnTo>
                  <a:pt x="138373" y="158106"/>
                </a:lnTo>
                <a:cubicBezTo>
                  <a:pt x="158403" y="148685"/>
                  <a:pt x="171183" y="128565"/>
                  <a:pt x="171183" y="106454"/>
                </a:cubicBezTo>
                <a:lnTo>
                  <a:pt x="171183" y="97211"/>
                </a:lnTo>
                <a:cubicBezTo>
                  <a:pt x="171183" y="93110"/>
                  <a:pt x="168567" y="89484"/>
                  <a:pt x="164674" y="88177"/>
                </a:cubicBezTo>
                <a:lnTo>
                  <a:pt x="131389" y="77092"/>
                </a:lnTo>
                <a:cubicBezTo>
                  <a:pt x="129427" y="76438"/>
                  <a:pt x="127317" y="76438"/>
                  <a:pt x="125385" y="77092"/>
                </a:cubicBezTo>
                <a:close/>
              </a:path>
            </a:pathLst>
          </a:custGeom>
          <a:solidFill>
            <a:srgbClr val="2D5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25654" y="4102042"/>
            <a:ext cx="1949579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 Encryption Module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25654" y="4330285"/>
            <a:ext cx="1940069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dirty="0">
                <a:solidFill>
                  <a:srgbClr val="FAF8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XOR base encryption/decryption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835658" y="4102042"/>
            <a:ext cx="304324" cy="304324"/>
          </a:xfrm>
          <a:custGeom>
            <a:avLst/>
            <a:gdLst/>
            <a:ahLst/>
            <a:cxnLst/>
            <a:rect l="l" t="t" r="r" b="b"/>
            <a:pathLst>
              <a:path w="304324" h="304324">
                <a:moveTo>
                  <a:pt x="0" y="0"/>
                </a:moveTo>
                <a:lnTo>
                  <a:pt x="304324" y="0"/>
                </a:lnTo>
                <a:lnTo>
                  <a:pt x="304324" y="304324"/>
                </a:lnTo>
                <a:lnTo>
                  <a:pt x="0" y="304324"/>
                </a:lnTo>
                <a:lnTo>
                  <a:pt x="0" y="0"/>
                </a:lnTo>
                <a:close/>
              </a:path>
            </a:pathLst>
          </a:custGeom>
          <a:solidFill>
            <a:srgbClr val="FAF8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911739" y="4178123"/>
            <a:ext cx="152162" cy="152162"/>
          </a:xfrm>
          <a:custGeom>
            <a:avLst/>
            <a:gdLst/>
            <a:ahLst/>
            <a:cxnLst/>
            <a:rect l="l" t="t" r="r" b="b"/>
            <a:pathLst>
              <a:path w="152162" h="152162">
                <a:moveTo>
                  <a:pt x="99856" y="104612"/>
                </a:moveTo>
                <a:cubicBezTo>
                  <a:pt x="128744" y="104612"/>
                  <a:pt x="152162" y="81193"/>
                  <a:pt x="152162" y="52306"/>
                </a:cubicBezTo>
                <a:cubicBezTo>
                  <a:pt x="152162" y="23419"/>
                  <a:pt x="128744" y="0"/>
                  <a:pt x="99856" y="0"/>
                </a:cubicBezTo>
                <a:cubicBezTo>
                  <a:pt x="70969" y="0"/>
                  <a:pt x="47551" y="23419"/>
                  <a:pt x="47551" y="52306"/>
                </a:cubicBezTo>
                <a:cubicBezTo>
                  <a:pt x="47551" y="57863"/>
                  <a:pt x="48413" y="63242"/>
                  <a:pt x="50017" y="68265"/>
                </a:cubicBezTo>
                <a:lnTo>
                  <a:pt x="2080" y="116202"/>
                </a:lnTo>
                <a:cubicBezTo>
                  <a:pt x="743" y="117539"/>
                  <a:pt x="0" y="119352"/>
                  <a:pt x="0" y="121254"/>
                </a:cubicBezTo>
                <a:lnTo>
                  <a:pt x="0" y="145030"/>
                </a:lnTo>
                <a:cubicBezTo>
                  <a:pt x="0" y="148982"/>
                  <a:pt x="3180" y="152162"/>
                  <a:pt x="7133" y="152162"/>
                </a:cubicBezTo>
                <a:lnTo>
                  <a:pt x="30908" y="152162"/>
                </a:lnTo>
                <a:cubicBezTo>
                  <a:pt x="34861" y="152162"/>
                  <a:pt x="38041" y="148982"/>
                  <a:pt x="38041" y="145030"/>
                </a:cubicBezTo>
                <a:lnTo>
                  <a:pt x="38041" y="133142"/>
                </a:lnTo>
                <a:lnTo>
                  <a:pt x="49928" y="133142"/>
                </a:lnTo>
                <a:cubicBezTo>
                  <a:pt x="53881" y="133142"/>
                  <a:pt x="57061" y="129962"/>
                  <a:pt x="57061" y="126009"/>
                </a:cubicBezTo>
                <a:lnTo>
                  <a:pt x="57061" y="114122"/>
                </a:lnTo>
                <a:lnTo>
                  <a:pt x="68949" y="114122"/>
                </a:lnTo>
                <a:cubicBezTo>
                  <a:pt x="70851" y="114122"/>
                  <a:pt x="72663" y="113379"/>
                  <a:pt x="74001" y="112041"/>
                </a:cubicBezTo>
                <a:lnTo>
                  <a:pt x="83897" y="102145"/>
                </a:lnTo>
                <a:cubicBezTo>
                  <a:pt x="88920" y="103750"/>
                  <a:pt x="94299" y="104612"/>
                  <a:pt x="99856" y="104612"/>
                </a:cubicBezTo>
                <a:close/>
                <a:moveTo>
                  <a:pt x="111744" y="28530"/>
                </a:moveTo>
                <a:cubicBezTo>
                  <a:pt x="118305" y="28530"/>
                  <a:pt x="123632" y="33857"/>
                  <a:pt x="123632" y="40418"/>
                </a:cubicBezTo>
                <a:cubicBezTo>
                  <a:pt x="123632" y="46979"/>
                  <a:pt x="118305" y="52306"/>
                  <a:pt x="111744" y="52306"/>
                </a:cubicBezTo>
                <a:cubicBezTo>
                  <a:pt x="105183" y="52306"/>
                  <a:pt x="99856" y="46979"/>
                  <a:pt x="99856" y="40418"/>
                </a:cubicBezTo>
                <a:cubicBezTo>
                  <a:pt x="99856" y="33857"/>
                  <a:pt x="105183" y="28530"/>
                  <a:pt x="111744" y="28530"/>
                </a:cubicBezTo>
                <a:close/>
              </a:path>
            </a:pathLst>
          </a:custGeom>
          <a:solidFill>
            <a:srgbClr val="2D5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216063" y="4102042"/>
            <a:ext cx="1749866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Authentication System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216063" y="4330285"/>
            <a:ext cx="1740356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dirty="0">
                <a:solidFill>
                  <a:srgbClr val="FAF8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Password-based verification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45248" y="4634610"/>
            <a:ext cx="304324" cy="304324"/>
          </a:xfrm>
          <a:custGeom>
            <a:avLst/>
            <a:gdLst/>
            <a:ahLst/>
            <a:cxnLst/>
            <a:rect l="l" t="t" r="r" b="b"/>
            <a:pathLst>
              <a:path w="304324" h="304324">
                <a:moveTo>
                  <a:pt x="0" y="0"/>
                </a:moveTo>
                <a:lnTo>
                  <a:pt x="304324" y="0"/>
                </a:lnTo>
                <a:lnTo>
                  <a:pt x="304324" y="304324"/>
                </a:lnTo>
                <a:lnTo>
                  <a:pt x="0" y="304324"/>
                </a:lnTo>
                <a:lnTo>
                  <a:pt x="0" y="0"/>
                </a:lnTo>
                <a:close/>
              </a:path>
            </a:pathLst>
          </a:custGeom>
          <a:solidFill>
            <a:srgbClr val="FAF8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40349" y="4710691"/>
            <a:ext cx="114122" cy="152162"/>
          </a:xfrm>
          <a:custGeom>
            <a:avLst/>
            <a:gdLst/>
            <a:ahLst/>
            <a:cxnLst/>
            <a:rect l="l" t="t" r="r" b="b"/>
            <a:pathLst>
              <a:path w="114122" h="152162">
                <a:moveTo>
                  <a:pt x="9510" y="0"/>
                </a:moveTo>
                <a:cubicBezTo>
                  <a:pt x="4250" y="0"/>
                  <a:pt x="0" y="4250"/>
                  <a:pt x="0" y="9510"/>
                </a:cubicBezTo>
                <a:cubicBezTo>
                  <a:pt x="0" y="14770"/>
                  <a:pt x="4250" y="19020"/>
                  <a:pt x="9510" y="19020"/>
                </a:cubicBezTo>
                <a:lnTo>
                  <a:pt x="9510" y="22289"/>
                </a:lnTo>
                <a:cubicBezTo>
                  <a:pt x="9510" y="34890"/>
                  <a:pt x="14533" y="46986"/>
                  <a:pt x="23448" y="55902"/>
                </a:cubicBezTo>
                <a:lnTo>
                  <a:pt x="43628" y="76081"/>
                </a:lnTo>
                <a:lnTo>
                  <a:pt x="23448" y="96260"/>
                </a:lnTo>
                <a:cubicBezTo>
                  <a:pt x="14533" y="105176"/>
                  <a:pt x="9510" y="117272"/>
                  <a:pt x="9510" y="129873"/>
                </a:cubicBezTo>
                <a:lnTo>
                  <a:pt x="9510" y="133142"/>
                </a:lnTo>
                <a:cubicBezTo>
                  <a:pt x="4250" y="133142"/>
                  <a:pt x="0" y="137392"/>
                  <a:pt x="0" y="142652"/>
                </a:cubicBezTo>
                <a:cubicBezTo>
                  <a:pt x="0" y="147912"/>
                  <a:pt x="4250" y="152162"/>
                  <a:pt x="9510" y="152162"/>
                </a:cubicBezTo>
                <a:lnTo>
                  <a:pt x="104612" y="152162"/>
                </a:lnTo>
                <a:cubicBezTo>
                  <a:pt x="109872" y="152162"/>
                  <a:pt x="114122" y="147912"/>
                  <a:pt x="114122" y="142652"/>
                </a:cubicBezTo>
                <a:cubicBezTo>
                  <a:pt x="114122" y="137392"/>
                  <a:pt x="109872" y="133142"/>
                  <a:pt x="104612" y="133142"/>
                </a:cubicBezTo>
                <a:lnTo>
                  <a:pt x="104612" y="129873"/>
                </a:lnTo>
                <a:cubicBezTo>
                  <a:pt x="104612" y="117272"/>
                  <a:pt x="99589" y="105176"/>
                  <a:pt x="90673" y="96260"/>
                </a:cubicBezTo>
                <a:lnTo>
                  <a:pt x="70494" y="76081"/>
                </a:lnTo>
                <a:lnTo>
                  <a:pt x="90673" y="55902"/>
                </a:lnTo>
                <a:cubicBezTo>
                  <a:pt x="99589" y="46986"/>
                  <a:pt x="104612" y="34890"/>
                  <a:pt x="104612" y="22289"/>
                </a:cubicBezTo>
                <a:lnTo>
                  <a:pt x="104612" y="19020"/>
                </a:lnTo>
                <a:cubicBezTo>
                  <a:pt x="109872" y="19020"/>
                  <a:pt x="114122" y="14770"/>
                  <a:pt x="114122" y="9510"/>
                </a:cubicBezTo>
                <a:cubicBezTo>
                  <a:pt x="114122" y="4250"/>
                  <a:pt x="109872" y="0"/>
                  <a:pt x="104612" y="0"/>
                </a:cubicBezTo>
                <a:lnTo>
                  <a:pt x="9510" y="0"/>
                </a:lnTo>
                <a:close/>
                <a:moveTo>
                  <a:pt x="28530" y="22289"/>
                </a:moveTo>
                <a:lnTo>
                  <a:pt x="28530" y="19020"/>
                </a:lnTo>
                <a:lnTo>
                  <a:pt x="85591" y="19020"/>
                </a:lnTo>
                <a:lnTo>
                  <a:pt x="85591" y="22289"/>
                </a:lnTo>
                <a:cubicBezTo>
                  <a:pt x="85591" y="27936"/>
                  <a:pt x="83927" y="33404"/>
                  <a:pt x="80836" y="38041"/>
                </a:cubicBezTo>
                <a:lnTo>
                  <a:pt x="33285" y="38041"/>
                </a:lnTo>
                <a:cubicBezTo>
                  <a:pt x="30224" y="33404"/>
                  <a:pt x="28530" y="27936"/>
                  <a:pt x="28530" y="22289"/>
                </a:cubicBezTo>
                <a:close/>
                <a:moveTo>
                  <a:pt x="33285" y="114122"/>
                </a:moveTo>
                <a:cubicBezTo>
                  <a:pt x="34326" y="112547"/>
                  <a:pt x="35544" y="111061"/>
                  <a:pt x="36882" y="109694"/>
                </a:cubicBezTo>
                <a:lnTo>
                  <a:pt x="57061" y="89514"/>
                </a:lnTo>
                <a:lnTo>
                  <a:pt x="77240" y="109694"/>
                </a:lnTo>
                <a:cubicBezTo>
                  <a:pt x="78607" y="111061"/>
                  <a:pt x="79796" y="112547"/>
                  <a:pt x="80866" y="114122"/>
                </a:cubicBezTo>
                <a:lnTo>
                  <a:pt x="33285" y="114122"/>
                </a:lnTo>
                <a:close/>
              </a:path>
            </a:pathLst>
          </a:custGeom>
          <a:solidFill>
            <a:srgbClr val="2D5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925654" y="4634610"/>
            <a:ext cx="1768886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Time-Based Expiry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25654" y="4862853"/>
            <a:ext cx="1759376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dirty="0">
                <a:solidFill>
                  <a:srgbClr val="FAF8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Automatic access revocation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3835658" y="4634610"/>
            <a:ext cx="304324" cy="304324"/>
          </a:xfrm>
          <a:custGeom>
            <a:avLst/>
            <a:gdLst/>
            <a:ahLst/>
            <a:cxnLst/>
            <a:rect l="l" t="t" r="r" b="b"/>
            <a:pathLst>
              <a:path w="304324" h="304324">
                <a:moveTo>
                  <a:pt x="0" y="0"/>
                </a:moveTo>
                <a:lnTo>
                  <a:pt x="304324" y="0"/>
                </a:lnTo>
                <a:lnTo>
                  <a:pt x="304324" y="304324"/>
                </a:lnTo>
                <a:lnTo>
                  <a:pt x="0" y="304324"/>
                </a:lnTo>
                <a:lnTo>
                  <a:pt x="0" y="0"/>
                </a:lnTo>
                <a:close/>
              </a:path>
            </a:pathLst>
          </a:custGeom>
          <a:solidFill>
            <a:srgbClr val="FAF8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3911739" y="4710691"/>
            <a:ext cx="152162" cy="152162"/>
          </a:xfrm>
          <a:custGeom>
            <a:avLst/>
            <a:gdLst/>
            <a:ahLst/>
            <a:cxnLst/>
            <a:rect l="l" t="t" r="r" b="b"/>
            <a:pathLst>
              <a:path w="152162" h="152162">
                <a:moveTo>
                  <a:pt x="76081" y="0"/>
                </a:moveTo>
                <a:cubicBezTo>
                  <a:pt x="77448" y="0"/>
                  <a:pt x="78815" y="297"/>
                  <a:pt x="80063" y="862"/>
                </a:cubicBezTo>
                <a:lnTo>
                  <a:pt x="136054" y="24607"/>
                </a:lnTo>
                <a:cubicBezTo>
                  <a:pt x="142593" y="27371"/>
                  <a:pt x="147467" y="33820"/>
                  <a:pt x="147437" y="41607"/>
                </a:cubicBezTo>
                <a:cubicBezTo>
                  <a:pt x="147288" y="71088"/>
                  <a:pt x="135163" y="125029"/>
                  <a:pt x="83957" y="149547"/>
                </a:cubicBezTo>
                <a:cubicBezTo>
                  <a:pt x="78994" y="151924"/>
                  <a:pt x="73228" y="151924"/>
                  <a:pt x="68265" y="149547"/>
                </a:cubicBezTo>
                <a:cubicBezTo>
                  <a:pt x="17029" y="125029"/>
                  <a:pt x="4933" y="71088"/>
                  <a:pt x="4785" y="41607"/>
                </a:cubicBezTo>
                <a:cubicBezTo>
                  <a:pt x="4755" y="33820"/>
                  <a:pt x="9629" y="27371"/>
                  <a:pt x="16167" y="24607"/>
                </a:cubicBezTo>
                <a:lnTo>
                  <a:pt x="72128" y="862"/>
                </a:lnTo>
                <a:cubicBezTo>
                  <a:pt x="73377" y="297"/>
                  <a:pt x="74714" y="0"/>
                  <a:pt x="76081" y="0"/>
                </a:cubicBezTo>
                <a:close/>
                <a:moveTo>
                  <a:pt x="76081" y="19852"/>
                </a:moveTo>
                <a:lnTo>
                  <a:pt x="76081" y="132221"/>
                </a:lnTo>
                <a:cubicBezTo>
                  <a:pt x="117094" y="112368"/>
                  <a:pt x="128119" y="68384"/>
                  <a:pt x="128387" y="42053"/>
                </a:cubicBezTo>
                <a:lnTo>
                  <a:pt x="76081" y="19882"/>
                </a:lnTo>
                <a:lnTo>
                  <a:pt x="76081" y="19882"/>
                </a:lnTo>
                <a:close/>
              </a:path>
            </a:pathLst>
          </a:custGeom>
          <a:solidFill>
            <a:srgbClr val="2D5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216063" y="4634610"/>
            <a:ext cx="1378970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Secure File Handler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216063" y="4862853"/>
            <a:ext cx="1369460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dirty="0">
                <a:solidFill>
                  <a:srgbClr val="FAF8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Safe file operations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386746" y="5338362"/>
            <a:ext cx="6783900" cy="802022"/>
          </a:xfrm>
          <a:custGeom>
            <a:avLst/>
            <a:gdLst/>
            <a:ahLst/>
            <a:cxnLst/>
            <a:rect l="l" t="t" r="r" b="b"/>
            <a:pathLst>
              <a:path w="6783900" h="802022">
                <a:moveTo>
                  <a:pt x="0" y="0"/>
                </a:moveTo>
                <a:lnTo>
                  <a:pt x="6783900" y="0"/>
                </a:lnTo>
                <a:lnTo>
                  <a:pt x="6783900" y="802022"/>
                </a:lnTo>
                <a:lnTo>
                  <a:pt x="0" y="802022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 w="16933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07208" y="5458821"/>
            <a:ext cx="6619058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Stack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510378" y="5766315"/>
            <a:ext cx="586459" cy="253604"/>
          </a:xfrm>
          <a:custGeom>
            <a:avLst/>
            <a:gdLst/>
            <a:ahLst/>
            <a:cxnLst/>
            <a:rect l="l" t="t" r="r" b="b"/>
            <a:pathLst>
              <a:path w="586459" h="253604">
                <a:moveTo>
                  <a:pt x="0" y="0"/>
                </a:moveTo>
                <a:lnTo>
                  <a:pt x="586459" y="0"/>
                </a:lnTo>
                <a:lnTo>
                  <a:pt x="586459" y="253604"/>
                </a:lnTo>
                <a:lnTo>
                  <a:pt x="0" y="253604"/>
                </a:lnTo>
                <a:lnTo>
                  <a:pt x="0" y="0"/>
                </a:lnTo>
                <a:close/>
              </a:path>
            </a:pathLst>
          </a:custGeom>
          <a:solidFill>
            <a:srgbClr val="FAF8F3">
              <a:alpha val="80000"/>
            </a:srgbClr>
          </a:solidFill>
          <a:ln w="8467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507208" y="5763145"/>
            <a:ext cx="637179" cy="247264"/>
          </a:xfrm>
          <a:prstGeom prst="rect">
            <a:avLst/>
          </a:prstGeom>
          <a:noFill/>
          <a:ln/>
        </p:spPr>
        <p:txBody>
          <a:bodyPr wrap="square" lIns="114122" tIns="38041" rIns="114122" bIns="38041" rtlCol="0" anchor="ctr"/>
          <a:lstStyle/>
          <a:p>
            <a:pPr>
              <a:lnSpc>
                <a:spcPct val="130000"/>
              </a:lnSpc>
            </a:pPr>
            <a:r>
              <a:rPr lang="en-US" sz="899" dirty="0">
                <a:solidFill>
                  <a:srgbClr val="7A756E"/>
                </a:solidFill>
                <a:latin typeface="Liter" pitchFamily="34" charset="0"/>
              </a:rPr>
              <a:t>C++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1183616" y="5766315"/>
            <a:ext cx="805192" cy="253604"/>
          </a:xfrm>
          <a:custGeom>
            <a:avLst/>
            <a:gdLst/>
            <a:ahLst/>
            <a:cxnLst/>
            <a:rect l="l" t="t" r="r" b="b"/>
            <a:pathLst>
              <a:path w="805192" h="253604">
                <a:moveTo>
                  <a:pt x="0" y="0"/>
                </a:moveTo>
                <a:lnTo>
                  <a:pt x="805192" y="0"/>
                </a:lnTo>
                <a:lnTo>
                  <a:pt x="805192" y="253604"/>
                </a:lnTo>
                <a:lnTo>
                  <a:pt x="0" y="253604"/>
                </a:lnTo>
                <a:lnTo>
                  <a:pt x="0" y="0"/>
                </a:lnTo>
                <a:close/>
              </a:path>
            </a:pathLst>
          </a:custGeom>
          <a:solidFill>
            <a:srgbClr val="FAF8F3">
              <a:alpha val="80000"/>
            </a:srgbClr>
          </a:solidFill>
          <a:ln w="8467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1180446" y="5763145"/>
            <a:ext cx="855913" cy="247264"/>
          </a:xfrm>
          <a:prstGeom prst="rect">
            <a:avLst/>
          </a:prstGeom>
          <a:noFill/>
          <a:ln/>
        </p:spPr>
        <p:txBody>
          <a:bodyPr wrap="square" lIns="114122" tIns="38041" rIns="114122" bIns="38041" rtlCol="0" anchor="ctr"/>
          <a:lstStyle/>
          <a:p>
            <a:pPr>
              <a:lnSpc>
                <a:spcPct val="130000"/>
              </a:lnSpc>
            </a:pPr>
            <a:r>
              <a:rPr lang="en-US" sz="899" dirty="0">
                <a:solidFill>
                  <a:srgbClr val="7A756E"/>
                </a:solidFill>
                <a:latin typeface="Liter" pitchFamily="34" charset="0"/>
              </a:rPr>
              <a:t>XOR-ENC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2068456" y="5766315"/>
            <a:ext cx="995395" cy="253604"/>
          </a:xfrm>
          <a:custGeom>
            <a:avLst/>
            <a:gdLst/>
            <a:ahLst/>
            <a:cxnLst/>
            <a:rect l="l" t="t" r="r" b="b"/>
            <a:pathLst>
              <a:path w="995395" h="253604">
                <a:moveTo>
                  <a:pt x="0" y="0"/>
                </a:moveTo>
                <a:lnTo>
                  <a:pt x="995395" y="0"/>
                </a:lnTo>
                <a:lnTo>
                  <a:pt x="995395" y="253604"/>
                </a:lnTo>
                <a:lnTo>
                  <a:pt x="0" y="253604"/>
                </a:lnTo>
                <a:lnTo>
                  <a:pt x="0" y="0"/>
                </a:lnTo>
                <a:close/>
              </a:path>
            </a:pathLst>
          </a:custGeom>
          <a:solidFill>
            <a:srgbClr val="FAF8F3">
              <a:alpha val="80000"/>
            </a:srgbClr>
          </a:solidFill>
          <a:ln w="8467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2065286" y="5763145"/>
            <a:ext cx="1046115" cy="247264"/>
          </a:xfrm>
          <a:prstGeom prst="rect">
            <a:avLst/>
          </a:prstGeom>
          <a:noFill/>
          <a:ln/>
        </p:spPr>
        <p:txBody>
          <a:bodyPr wrap="square" lIns="114122" tIns="38041" rIns="114122" bIns="38041" rtlCol="0" anchor="ctr"/>
          <a:lstStyle/>
          <a:p>
            <a:pPr>
              <a:lnSpc>
                <a:spcPct val="130000"/>
              </a:lnSpc>
            </a:pPr>
            <a:r>
              <a:rPr lang="en-US" sz="899" dirty="0">
                <a:solidFill>
                  <a:srgbClr val="7A756E"/>
                </a:solidFill>
                <a:latin typeface="Liter" pitchFamily="34" charset="0"/>
              </a:rPr>
              <a:t>XOR-Cipher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3143993" y="5763145"/>
            <a:ext cx="627669" cy="247264"/>
          </a:xfrm>
          <a:prstGeom prst="rect">
            <a:avLst/>
          </a:prstGeom>
          <a:noFill/>
          <a:ln/>
        </p:spPr>
        <p:txBody>
          <a:bodyPr wrap="square" lIns="114122" tIns="38041" rIns="114122" bIns="38041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3268564" y="5766315"/>
            <a:ext cx="614989" cy="253604"/>
          </a:xfrm>
          <a:custGeom>
            <a:avLst/>
            <a:gdLst/>
            <a:ahLst/>
            <a:cxnLst/>
            <a:rect l="l" t="t" r="r" b="b"/>
            <a:pathLst>
              <a:path w="614989" h="253604">
                <a:moveTo>
                  <a:pt x="0" y="0"/>
                </a:moveTo>
                <a:lnTo>
                  <a:pt x="614989" y="0"/>
                </a:lnTo>
                <a:lnTo>
                  <a:pt x="614989" y="253604"/>
                </a:lnTo>
                <a:lnTo>
                  <a:pt x="0" y="253604"/>
                </a:lnTo>
                <a:lnTo>
                  <a:pt x="0" y="0"/>
                </a:lnTo>
                <a:close/>
              </a:path>
            </a:pathLst>
          </a:custGeom>
          <a:solidFill>
            <a:srgbClr val="FAF8F3">
              <a:alpha val="80000"/>
            </a:srgbClr>
          </a:solidFill>
          <a:ln w="8467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3289335" y="5763145"/>
            <a:ext cx="665710" cy="247264"/>
          </a:xfrm>
          <a:prstGeom prst="rect">
            <a:avLst/>
          </a:prstGeom>
          <a:noFill/>
          <a:ln/>
        </p:spPr>
        <p:txBody>
          <a:bodyPr wrap="square" lIns="114122" tIns="38041" rIns="114122" bIns="38041" rtlCol="0" anchor="ctr"/>
          <a:lstStyle/>
          <a:p>
            <a:pPr>
              <a:lnSpc>
                <a:spcPct val="130000"/>
              </a:lnSpc>
            </a:pPr>
            <a:r>
              <a:rPr lang="en-US" sz="899" dirty="0">
                <a:solidFill>
                  <a:srgbClr val="7A756E"/>
                </a:solidFill>
                <a:latin typeface="Liter" pitchFamily="34" charset="0"/>
              </a:rPr>
              <a:t>CLI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7335389" y="1369462"/>
            <a:ext cx="4463426" cy="3968899"/>
          </a:xfrm>
          <a:custGeom>
            <a:avLst/>
            <a:gdLst/>
            <a:ahLst/>
            <a:cxnLst/>
            <a:rect l="l" t="t" r="r" b="b"/>
            <a:pathLst>
              <a:path w="4463426" h="3968899">
                <a:moveTo>
                  <a:pt x="0" y="0"/>
                </a:moveTo>
                <a:lnTo>
                  <a:pt x="4463426" y="0"/>
                </a:lnTo>
                <a:lnTo>
                  <a:pt x="4463426" y="3968899"/>
                </a:lnTo>
                <a:lnTo>
                  <a:pt x="0" y="39688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 w="16933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7493892" y="1527966"/>
            <a:ext cx="4232012" cy="26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8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Workflow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7493892" y="1927392"/>
            <a:ext cx="304324" cy="304324"/>
          </a:xfrm>
          <a:custGeom>
            <a:avLst/>
            <a:gdLst/>
            <a:ahLst/>
            <a:cxnLst/>
            <a:rect l="l" t="t" r="r" b="b"/>
            <a:pathLst>
              <a:path w="304324" h="304324">
                <a:moveTo>
                  <a:pt x="0" y="0"/>
                </a:moveTo>
                <a:lnTo>
                  <a:pt x="304324" y="0"/>
                </a:lnTo>
                <a:lnTo>
                  <a:pt x="304324" y="304324"/>
                </a:lnTo>
                <a:lnTo>
                  <a:pt x="0" y="304324"/>
                </a:lnTo>
                <a:lnTo>
                  <a:pt x="0" y="0"/>
                </a:lnTo>
                <a:close/>
              </a:path>
            </a:pathLst>
          </a:custGeom>
          <a:solidFill>
            <a:srgbClr val="2D5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7455851" y="1927392"/>
            <a:ext cx="380406" cy="304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98" b="1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7912338" y="1870331"/>
            <a:ext cx="3804056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 Selection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7912338" y="2098574"/>
            <a:ext cx="3794546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selects file to share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9512122" y="2364858"/>
            <a:ext cx="114122" cy="152162"/>
          </a:xfrm>
          <a:custGeom>
            <a:avLst/>
            <a:gdLst/>
            <a:ahLst/>
            <a:cxnLst/>
            <a:rect l="l" t="t" r="r" b="b"/>
            <a:pathLst>
              <a:path w="114122" h="152162">
                <a:moveTo>
                  <a:pt x="50344" y="149369"/>
                </a:moveTo>
                <a:cubicBezTo>
                  <a:pt x="54059" y="153084"/>
                  <a:pt x="60092" y="153084"/>
                  <a:pt x="63807" y="149369"/>
                </a:cubicBezTo>
                <a:lnTo>
                  <a:pt x="111358" y="101818"/>
                </a:lnTo>
                <a:cubicBezTo>
                  <a:pt x="115073" y="98103"/>
                  <a:pt x="115073" y="92070"/>
                  <a:pt x="111358" y="88355"/>
                </a:cubicBezTo>
                <a:cubicBezTo>
                  <a:pt x="107643" y="84640"/>
                  <a:pt x="101610" y="84640"/>
                  <a:pt x="97895" y="88355"/>
                </a:cubicBezTo>
                <a:lnTo>
                  <a:pt x="66571" y="119679"/>
                </a:lnTo>
                <a:lnTo>
                  <a:pt x="66571" y="9510"/>
                </a:lnTo>
                <a:cubicBezTo>
                  <a:pt x="66571" y="4250"/>
                  <a:pt x="62321" y="0"/>
                  <a:pt x="57061" y="0"/>
                </a:cubicBezTo>
                <a:cubicBezTo>
                  <a:pt x="51801" y="0"/>
                  <a:pt x="47551" y="4250"/>
                  <a:pt x="47551" y="9510"/>
                </a:cubicBezTo>
                <a:lnTo>
                  <a:pt x="47551" y="119679"/>
                </a:lnTo>
                <a:lnTo>
                  <a:pt x="16227" y="88355"/>
                </a:lnTo>
                <a:cubicBezTo>
                  <a:pt x="12512" y="84640"/>
                  <a:pt x="6479" y="84640"/>
                  <a:pt x="2764" y="88355"/>
                </a:cubicBezTo>
                <a:cubicBezTo>
                  <a:pt x="-951" y="92070"/>
                  <a:pt x="-951" y="98103"/>
                  <a:pt x="2764" y="101818"/>
                </a:cubicBezTo>
                <a:lnTo>
                  <a:pt x="50315" y="149369"/>
                </a:lnTo>
                <a:close/>
              </a:path>
            </a:pathLst>
          </a:custGeom>
          <a:solidFill>
            <a:srgbClr val="8B7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7493892" y="2650162"/>
            <a:ext cx="304324" cy="304324"/>
          </a:xfrm>
          <a:custGeom>
            <a:avLst/>
            <a:gdLst/>
            <a:ahLst/>
            <a:cxnLst/>
            <a:rect l="l" t="t" r="r" b="b"/>
            <a:pathLst>
              <a:path w="304324" h="304324">
                <a:moveTo>
                  <a:pt x="0" y="0"/>
                </a:moveTo>
                <a:lnTo>
                  <a:pt x="304324" y="0"/>
                </a:lnTo>
                <a:lnTo>
                  <a:pt x="304324" y="304324"/>
                </a:lnTo>
                <a:lnTo>
                  <a:pt x="0" y="304324"/>
                </a:lnTo>
                <a:lnTo>
                  <a:pt x="0" y="0"/>
                </a:lnTo>
                <a:close/>
              </a:path>
            </a:pathLst>
          </a:custGeom>
          <a:solidFill>
            <a:srgbClr val="7D9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7455851" y="2650162"/>
            <a:ext cx="380406" cy="304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98" b="1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7912338" y="2593101"/>
            <a:ext cx="3804056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Encryption Process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7912338" y="2821345"/>
            <a:ext cx="3794546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 encrypted with XOR-ENC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9512122" y="3087629"/>
            <a:ext cx="114122" cy="152162"/>
          </a:xfrm>
          <a:custGeom>
            <a:avLst/>
            <a:gdLst/>
            <a:ahLst/>
            <a:cxnLst/>
            <a:rect l="l" t="t" r="r" b="b"/>
            <a:pathLst>
              <a:path w="114122" h="152162">
                <a:moveTo>
                  <a:pt x="50344" y="149369"/>
                </a:moveTo>
                <a:cubicBezTo>
                  <a:pt x="54059" y="153084"/>
                  <a:pt x="60092" y="153084"/>
                  <a:pt x="63807" y="149369"/>
                </a:cubicBezTo>
                <a:lnTo>
                  <a:pt x="111358" y="101818"/>
                </a:lnTo>
                <a:cubicBezTo>
                  <a:pt x="115073" y="98103"/>
                  <a:pt x="115073" y="92070"/>
                  <a:pt x="111358" y="88355"/>
                </a:cubicBezTo>
                <a:cubicBezTo>
                  <a:pt x="107643" y="84640"/>
                  <a:pt x="101610" y="84640"/>
                  <a:pt x="97895" y="88355"/>
                </a:cubicBezTo>
                <a:lnTo>
                  <a:pt x="66571" y="119679"/>
                </a:lnTo>
                <a:lnTo>
                  <a:pt x="66571" y="9510"/>
                </a:lnTo>
                <a:cubicBezTo>
                  <a:pt x="66571" y="4250"/>
                  <a:pt x="62321" y="0"/>
                  <a:pt x="57061" y="0"/>
                </a:cubicBezTo>
                <a:cubicBezTo>
                  <a:pt x="51801" y="0"/>
                  <a:pt x="47551" y="4250"/>
                  <a:pt x="47551" y="9510"/>
                </a:cubicBezTo>
                <a:lnTo>
                  <a:pt x="47551" y="119679"/>
                </a:lnTo>
                <a:lnTo>
                  <a:pt x="16227" y="88355"/>
                </a:lnTo>
                <a:cubicBezTo>
                  <a:pt x="12512" y="84640"/>
                  <a:pt x="6479" y="84640"/>
                  <a:pt x="2764" y="88355"/>
                </a:cubicBezTo>
                <a:cubicBezTo>
                  <a:pt x="-951" y="92070"/>
                  <a:pt x="-951" y="98103"/>
                  <a:pt x="2764" y="101818"/>
                </a:cubicBezTo>
                <a:lnTo>
                  <a:pt x="50315" y="149369"/>
                </a:lnTo>
                <a:close/>
              </a:path>
            </a:pathLst>
          </a:custGeom>
          <a:solidFill>
            <a:srgbClr val="8B7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1"/>
          <p:cNvSpPr/>
          <p:nvPr/>
        </p:nvSpPr>
        <p:spPr>
          <a:xfrm>
            <a:off x="7493892" y="3372933"/>
            <a:ext cx="304324" cy="304324"/>
          </a:xfrm>
          <a:custGeom>
            <a:avLst/>
            <a:gdLst/>
            <a:ahLst/>
            <a:cxnLst/>
            <a:rect l="l" t="t" r="r" b="b"/>
            <a:pathLst>
              <a:path w="304324" h="304324">
                <a:moveTo>
                  <a:pt x="0" y="0"/>
                </a:moveTo>
                <a:lnTo>
                  <a:pt x="304324" y="0"/>
                </a:lnTo>
                <a:lnTo>
                  <a:pt x="304324" y="304324"/>
                </a:lnTo>
                <a:lnTo>
                  <a:pt x="0" y="304324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7455851" y="3372933"/>
            <a:ext cx="380406" cy="304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98" b="1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7912338" y="3315872"/>
            <a:ext cx="3804056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 Configuration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7912338" y="3544115"/>
            <a:ext cx="3794546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 password and expiry time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9512122" y="3810399"/>
            <a:ext cx="114122" cy="152162"/>
          </a:xfrm>
          <a:custGeom>
            <a:avLst/>
            <a:gdLst/>
            <a:ahLst/>
            <a:cxnLst/>
            <a:rect l="l" t="t" r="r" b="b"/>
            <a:pathLst>
              <a:path w="114122" h="152162">
                <a:moveTo>
                  <a:pt x="50344" y="149369"/>
                </a:moveTo>
                <a:cubicBezTo>
                  <a:pt x="54059" y="153084"/>
                  <a:pt x="60092" y="153084"/>
                  <a:pt x="63807" y="149369"/>
                </a:cubicBezTo>
                <a:lnTo>
                  <a:pt x="111358" y="101818"/>
                </a:lnTo>
                <a:cubicBezTo>
                  <a:pt x="115073" y="98103"/>
                  <a:pt x="115073" y="92070"/>
                  <a:pt x="111358" y="88355"/>
                </a:cubicBezTo>
                <a:cubicBezTo>
                  <a:pt x="107643" y="84640"/>
                  <a:pt x="101610" y="84640"/>
                  <a:pt x="97895" y="88355"/>
                </a:cubicBezTo>
                <a:lnTo>
                  <a:pt x="66571" y="119679"/>
                </a:lnTo>
                <a:lnTo>
                  <a:pt x="66571" y="9510"/>
                </a:lnTo>
                <a:cubicBezTo>
                  <a:pt x="66571" y="4250"/>
                  <a:pt x="62321" y="0"/>
                  <a:pt x="57061" y="0"/>
                </a:cubicBezTo>
                <a:cubicBezTo>
                  <a:pt x="51801" y="0"/>
                  <a:pt x="47551" y="4250"/>
                  <a:pt x="47551" y="9510"/>
                </a:cubicBezTo>
                <a:lnTo>
                  <a:pt x="47551" y="119679"/>
                </a:lnTo>
                <a:lnTo>
                  <a:pt x="16227" y="88355"/>
                </a:lnTo>
                <a:cubicBezTo>
                  <a:pt x="12512" y="84640"/>
                  <a:pt x="6479" y="84640"/>
                  <a:pt x="2764" y="88355"/>
                </a:cubicBezTo>
                <a:cubicBezTo>
                  <a:pt x="-951" y="92070"/>
                  <a:pt x="-951" y="98103"/>
                  <a:pt x="2764" y="101818"/>
                </a:cubicBezTo>
                <a:lnTo>
                  <a:pt x="50315" y="149369"/>
                </a:lnTo>
                <a:close/>
              </a:path>
            </a:pathLst>
          </a:custGeom>
          <a:solidFill>
            <a:srgbClr val="8B7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6"/>
          <p:cNvSpPr/>
          <p:nvPr/>
        </p:nvSpPr>
        <p:spPr>
          <a:xfrm>
            <a:off x="7493892" y="4095704"/>
            <a:ext cx="304324" cy="304324"/>
          </a:xfrm>
          <a:custGeom>
            <a:avLst/>
            <a:gdLst/>
            <a:ahLst/>
            <a:cxnLst/>
            <a:rect l="l" t="t" r="r" b="b"/>
            <a:pathLst>
              <a:path w="304324" h="304324">
                <a:moveTo>
                  <a:pt x="0" y="0"/>
                </a:moveTo>
                <a:lnTo>
                  <a:pt x="304324" y="0"/>
                </a:lnTo>
                <a:lnTo>
                  <a:pt x="304324" y="304324"/>
                </a:lnTo>
                <a:lnTo>
                  <a:pt x="0" y="304324"/>
                </a:lnTo>
                <a:lnTo>
                  <a:pt x="0" y="0"/>
                </a:lnTo>
                <a:close/>
              </a:path>
            </a:pathLst>
          </a:custGeom>
          <a:solidFill>
            <a:srgbClr val="2D5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7455851" y="4095704"/>
            <a:ext cx="380406" cy="304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98" b="1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61" name="Text 58"/>
          <p:cNvSpPr/>
          <p:nvPr/>
        </p:nvSpPr>
        <p:spPr>
          <a:xfrm>
            <a:off x="7912338" y="4038643"/>
            <a:ext cx="3804056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Secure Distribution</a:t>
            </a:r>
            <a:endParaRPr lang="en-US" sz="1600" dirty="0"/>
          </a:p>
        </p:txBody>
      </p:sp>
      <p:sp>
        <p:nvSpPr>
          <p:cNvPr id="62" name="Text 59"/>
          <p:cNvSpPr/>
          <p:nvPr/>
        </p:nvSpPr>
        <p:spPr>
          <a:xfrm>
            <a:off x="7912338" y="4266886"/>
            <a:ext cx="3794546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Share encrypted file package</a:t>
            </a:r>
            <a:endParaRPr lang="en-US" sz="1600" dirty="0"/>
          </a:p>
        </p:txBody>
      </p:sp>
      <p:sp>
        <p:nvSpPr>
          <p:cNvPr id="63" name="Shape 60"/>
          <p:cNvSpPr/>
          <p:nvPr/>
        </p:nvSpPr>
        <p:spPr>
          <a:xfrm>
            <a:off x="9512122" y="4533170"/>
            <a:ext cx="114122" cy="152162"/>
          </a:xfrm>
          <a:custGeom>
            <a:avLst/>
            <a:gdLst/>
            <a:ahLst/>
            <a:cxnLst/>
            <a:rect l="l" t="t" r="r" b="b"/>
            <a:pathLst>
              <a:path w="114122" h="152162">
                <a:moveTo>
                  <a:pt x="50344" y="149369"/>
                </a:moveTo>
                <a:cubicBezTo>
                  <a:pt x="54059" y="153084"/>
                  <a:pt x="60092" y="153084"/>
                  <a:pt x="63807" y="149369"/>
                </a:cubicBezTo>
                <a:lnTo>
                  <a:pt x="111358" y="101818"/>
                </a:lnTo>
                <a:cubicBezTo>
                  <a:pt x="115073" y="98103"/>
                  <a:pt x="115073" y="92070"/>
                  <a:pt x="111358" y="88355"/>
                </a:cubicBezTo>
                <a:cubicBezTo>
                  <a:pt x="107643" y="84640"/>
                  <a:pt x="101610" y="84640"/>
                  <a:pt x="97895" y="88355"/>
                </a:cubicBezTo>
                <a:lnTo>
                  <a:pt x="66571" y="119679"/>
                </a:lnTo>
                <a:lnTo>
                  <a:pt x="66571" y="9510"/>
                </a:lnTo>
                <a:cubicBezTo>
                  <a:pt x="66571" y="4250"/>
                  <a:pt x="62321" y="0"/>
                  <a:pt x="57061" y="0"/>
                </a:cubicBezTo>
                <a:cubicBezTo>
                  <a:pt x="51801" y="0"/>
                  <a:pt x="47551" y="4250"/>
                  <a:pt x="47551" y="9510"/>
                </a:cubicBezTo>
                <a:lnTo>
                  <a:pt x="47551" y="119679"/>
                </a:lnTo>
                <a:lnTo>
                  <a:pt x="16227" y="88355"/>
                </a:lnTo>
                <a:cubicBezTo>
                  <a:pt x="12512" y="84640"/>
                  <a:pt x="6479" y="84640"/>
                  <a:pt x="2764" y="88355"/>
                </a:cubicBezTo>
                <a:cubicBezTo>
                  <a:pt x="-951" y="92070"/>
                  <a:pt x="-951" y="98103"/>
                  <a:pt x="2764" y="101818"/>
                </a:cubicBezTo>
                <a:lnTo>
                  <a:pt x="50315" y="149369"/>
                </a:lnTo>
                <a:close/>
              </a:path>
            </a:pathLst>
          </a:custGeom>
          <a:solidFill>
            <a:srgbClr val="8B7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1"/>
          <p:cNvSpPr/>
          <p:nvPr/>
        </p:nvSpPr>
        <p:spPr>
          <a:xfrm>
            <a:off x="7493892" y="4818474"/>
            <a:ext cx="304324" cy="304324"/>
          </a:xfrm>
          <a:custGeom>
            <a:avLst/>
            <a:gdLst/>
            <a:ahLst/>
            <a:cxnLst/>
            <a:rect l="l" t="t" r="r" b="b"/>
            <a:pathLst>
              <a:path w="304324" h="304324">
                <a:moveTo>
                  <a:pt x="0" y="0"/>
                </a:moveTo>
                <a:lnTo>
                  <a:pt x="304324" y="0"/>
                </a:lnTo>
                <a:lnTo>
                  <a:pt x="304324" y="304324"/>
                </a:lnTo>
                <a:lnTo>
                  <a:pt x="0" y="304324"/>
                </a:lnTo>
                <a:lnTo>
                  <a:pt x="0" y="0"/>
                </a:lnTo>
                <a:close/>
              </a:path>
            </a:pathLst>
          </a:custGeom>
          <a:solidFill>
            <a:srgbClr val="7D9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2"/>
          <p:cNvSpPr/>
          <p:nvPr/>
        </p:nvSpPr>
        <p:spPr>
          <a:xfrm>
            <a:off x="7455851" y="4818474"/>
            <a:ext cx="380406" cy="304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98" b="1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66" name="Text 63"/>
          <p:cNvSpPr/>
          <p:nvPr/>
        </p:nvSpPr>
        <p:spPr>
          <a:xfrm>
            <a:off x="7912338" y="4761413"/>
            <a:ext cx="3804056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 &amp; Expiry</a:t>
            </a:r>
            <a:endParaRPr lang="en-US" sz="1600" dirty="0"/>
          </a:p>
        </p:txBody>
      </p:sp>
      <p:sp>
        <p:nvSpPr>
          <p:cNvPr id="67" name="Text 64"/>
          <p:cNvSpPr/>
          <p:nvPr/>
        </p:nvSpPr>
        <p:spPr>
          <a:xfrm>
            <a:off x="7912338" y="4989657"/>
            <a:ext cx="3794546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Recipient authenticates and accesses</a:t>
            </a:r>
            <a:endParaRPr lang="en-US" sz="1600" dirty="0"/>
          </a:p>
        </p:txBody>
      </p:sp>
      <p:sp>
        <p:nvSpPr>
          <p:cNvPr id="68" name="Shape 65"/>
          <p:cNvSpPr/>
          <p:nvPr/>
        </p:nvSpPr>
        <p:spPr>
          <a:xfrm>
            <a:off x="7335389" y="5465161"/>
            <a:ext cx="4463426" cy="1382140"/>
          </a:xfrm>
          <a:custGeom>
            <a:avLst/>
            <a:gdLst/>
            <a:ahLst/>
            <a:cxnLst/>
            <a:rect l="l" t="t" r="r" b="b"/>
            <a:pathLst>
              <a:path w="4463426" h="1382140">
                <a:moveTo>
                  <a:pt x="0" y="0"/>
                </a:moveTo>
                <a:lnTo>
                  <a:pt x="4463426" y="0"/>
                </a:lnTo>
                <a:lnTo>
                  <a:pt x="4463426" y="1382140"/>
                </a:lnTo>
                <a:lnTo>
                  <a:pt x="0" y="1382140"/>
                </a:lnTo>
                <a:lnTo>
                  <a:pt x="0" y="0"/>
                </a:lnTo>
                <a:close/>
              </a:path>
            </a:pathLst>
          </a:custGeom>
          <a:solidFill>
            <a:srgbClr val="7D9A78"/>
          </a:solidFill>
          <a:ln w="16933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6"/>
          <p:cNvSpPr/>
          <p:nvPr/>
        </p:nvSpPr>
        <p:spPr>
          <a:xfrm>
            <a:off x="7455851" y="5585624"/>
            <a:ext cx="4298583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70" name="Shape 67"/>
          <p:cNvSpPr/>
          <p:nvPr/>
        </p:nvSpPr>
        <p:spPr>
          <a:xfrm>
            <a:off x="7477249" y="5889949"/>
            <a:ext cx="99856" cy="114122"/>
          </a:xfrm>
          <a:custGeom>
            <a:avLst/>
            <a:gdLst/>
            <a:ahLst/>
            <a:cxnLst/>
            <a:rect l="l" t="t" r="r" b="b"/>
            <a:pathLst>
              <a:path w="99856" h="114122">
                <a:moveTo>
                  <a:pt x="96914" y="15625"/>
                </a:moveTo>
                <a:cubicBezTo>
                  <a:pt x="100102" y="17943"/>
                  <a:pt x="100815" y="22401"/>
                  <a:pt x="98497" y="25588"/>
                </a:cubicBezTo>
                <a:lnTo>
                  <a:pt x="41436" y="104047"/>
                </a:lnTo>
                <a:cubicBezTo>
                  <a:pt x="40210" y="105741"/>
                  <a:pt x="38315" y="106788"/>
                  <a:pt x="36220" y="106967"/>
                </a:cubicBezTo>
                <a:cubicBezTo>
                  <a:pt x="34125" y="107145"/>
                  <a:pt x="32097" y="106365"/>
                  <a:pt x="30626" y="104894"/>
                </a:cubicBezTo>
                <a:lnTo>
                  <a:pt x="2095" y="76363"/>
                </a:lnTo>
                <a:cubicBezTo>
                  <a:pt x="-691" y="73577"/>
                  <a:pt x="-691" y="69053"/>
                  <a:pt x="2095" y="66266"/>
                </a:cubicBezTo>
                <a:cubicBezTo>
                  <a:pt x="4881" y="63480"/>
                  <a:pt x="9406" y="63480"/>
                  <a:pt x="12192" y="66266"/>
                </a:cubicBezTo>
                <a:lnTo>
                  <a:pt x="34816" y="88890"/>
                </a:lnTo>
                <a:lnTo>
                  <a:pt x="86973" y="17185"/>
                </a:lnTo>
                <a:cubicBezTo>
                  <a:pt x="89291" y="13998"/>
                  <a:pt x="93749" y="13284"/>
                  <a:pt x="96937" y="15603"/>
                </a:cubicBezTo>
                <a:close/>
              </a:path>
            </a:pathLst>
          </a:custGeom>
          <a:solidFill>
            <a:srgbClr val="FAF8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8"/>
          <p:cNvSpPr/>
          <p:nvPr/>
        </p:nvSpPr>
        <p:spPr>
          <a:xfrm>
            <a:off x="7674585" y="5851908"/>
            <a:ext cx="1264849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Local file processing</a:t>
            </a:r>
            <a:endParaRPr lang="en-US" sz="1600" dirty="0"/>
          </a:p>
        </p:txBody>
      </p:sp>
      <p:sp>
        <p:nvSpPr>
          <p:cNvPr id="72" name="Shape 69"/>
          <p:cNvSpPr/>
          <p:nvPr/>
        </p:nvSpPr>
        <p:spPr>
          <a:xfrm>
            <a:off x="7477249" y="6118192"/>
            <a:ext cx="99856" cy="114122"/>
          </a:xfrm>
          <a:custGeom>
            <a:avLst/>
            <a:gdLst/>
            <a:ahLst/>
            <a:cxnLst/>
            <a:rect l="l" t="t" r="r" b="b"/>
            <a:pathLst>
              <a:path w="99856" h="114122">
                <a:moveTo>
                  <a:pt x="96914" y="15625"/>
                </a:moveTo>
                <a:cubicBezTo>
                  <a:pt x="100102" y="17943"/>
                  <a:pt x="100815" y="22401"/>
                  <a:pt x="98497" y="25588"/>
                </a:cubicBezTo>
                <a:lnTo>
                  <a:pt x="41436" y="104047"/>
                </a:lnTo>
                <a:cubicBezTo>
                  <a:pt x="40210" y="105741"/>
                  <a:pt x="38315" y="106788"/>
                  <a:pt x="36220" y="106967"/>
                </a:cubicBezTo>
                <a:cubicBezTo>
                  <a:pt x="34125" y="107145"/>
                  <a:pt x="32097" y="106365"/>
                  <a:pt x="30626" y="104894"/>
                </a:cubicBezTo>
                <a:lnTo>
                  <a:pt x="2095" y="76363"/>
                </a:lnTo>
                <a:cubicBezTo>
                  <a:pt x="-691" y="73577"/>
                  <a:pt x="-691" y="69053"/>
                  <a:pt x="2095" y="66266"/>
                </a:cubicBezTo>
                <a:cubicBezTo>
                  <a:pt x="4881" y="63480"/>
                  <a:pt x="9406" y="63480"/>
                  <a:pt x="12192" y="66266"/>
                </a:cubicBezTo>
                <a:lnTo>
                  <a:pt x="34816" y="88890"/>
                </a:lnTo>
                <a:lnTo>
                  <a:pt x="86973" y="17185"/>
                </a:lnTo>
                <a:cubicBezTo>
                  <a:pt x="89291" y="13998"/>
                  <a:pt x="93749" y="13284"/>
                  <a:pt x="96937" y="15603"/>
                </a:cubicBezTo>
                <a:close/>
              </a:path>
            </a:pathLst>
          </a:custGeom>
          <a:solidFill>
            <a:srgbClr val="FAF8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0"/>
          <p:cNvSpPr/>
          <p:nvPr/>
        </p:nvSpPr>
        <p:spPr>
          <a:xfrm>
            <a:off x="7674585" y="6080151"/>
            <a:ext cx="1350440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cloud dependency</a:t>
            </a:r>
            <a:endParaRPr lang="en-US" sz="1600" dirty="0"/>
          </a:p>
        </p:txBody>
      </p:sp>
      <p:sp>
        <p:nvSpPr>
          <p:cNvPr id="74" name="Shape 71"/>
          <p:cNvSpPr/>
          <p:nvPr/>
        </p:nvSpPr>
        <p:spPr>
          <a:xfrm>
            <a:off x="7477249" y="6346435"/>
            <a:ext cx="99856" cy="114122"/>
          </a:xfrm>
          <a:custGeom>
            <a:avLst/>
            <a:gdLst/>
            <a:ahLst/>
            <a:cxnLst/>
            <a:rect l="l" t="t" r="r" b="b"/>
            <a:pathLst>
              <a:path w="99856" h="114122">
                <a:moveTo>
                  <a:pt x="96914" y="15625"/>
                </a:moveTo>
                <a:cubicBezTo>
                  <a:pt x="100102" y="17943"/>
                  <a:pt x="100815" y="22401"/>
                  <a:pt x="98497" y="25588"/>
                </a:cubicBezTo>
                <a:lnTo>
                  <a:pt x="41436" y="104047"/>
                </a:lnTo>
                <a:cubicBezTo>
                  <a:pt x="40210" y="105741"/>
                  <a:pt x="38315" y="106788"/>
                  <a:pt x="36220" y="106967"/>
                </a:cubicBezTo>
                <a:cubicBezTo>
                  <a:pt x="34125" y="107145"/>
                  <a:pt x="32097" y="106365"/>
                  <a:pt x="30626" y="104894"/>
                </a:cubicBezTo>
                <a:lnTo>
                  <a:pt x="2095" y="76363"/>
                </a:lnTo>
                <a:cubicBezTo>
                  <a:pt x="-691" y="73577"/>
                  <a:pt x="-691" y="69053"/>
                  <a:pt x="2095" y="66266"/>
                </a:cubicBezTo>
                <a:cubicBezTo>
                  <a:pt x="4881" y="63480"/>
                  <a:pt x="9406" y="63480"/>
                  <a:pt x="12192" y="66266"/>
                </a:cubicBezTo>
                <a:lnTo>
                  <a:pt x="34816" y="88890"/>
                </a:lnTo>
                <a:lnTo>
                  <a:pt x="86973" y="17185"/>
                </a:lnTo>
                <a:cubicBezTo>
                  <a:pt x="89291" y="13998"/>
                  <a:pt x="93749" y="13284"/>
                  <a:pt x="96937" y="15603"/>
                </a:cubicBezTo>
                <a:close/>
              </a:path>
            </a:pathLst>
          </a:custGeom>
          <a:solidFill>
            <a:srgbClr val="FAF8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2"/>
          <p:cNvSpPr/>
          <p:nvPr/>
        </p:nvSpPr>
        <p:spPr>
          <a:xfrm>
            <a:off x="7674585" y="6308395"/>
            <a:ext cx="1759376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Cross-platform compatibility</a:t>
            </a:r>
            <a:endParaRPr lang="en-US" sz="1600" dirty="0"/>
          </a:p>
        </p:txBody>
      </p:sp>
      <p:sp>
        <p:nvSpPr>
          <p:cNvPr id="76" name="Shape 73"/>
          <p:cNvSpPr/>
          <p:nvPr/>
        </p:nvSpPr>
        <p:spPr>
          <a:xfrm>
            <a:off x="7477249" y="6574679"/>
            <a:ext cx="99856" cy="114122"/>
          </a:xfrm>
          <a:custGeom>
            <a:avLst/>
            <a:gdLst/>
            <a:ahLst/>
            <a:cxnLst/>
            <a:rect l="l" t="t" r="r" b="b"/>
            <a:pathLst>
              <a:path w="99856" h="114122">
                <a:moveTo>
                  <a:pt x="96914" y="15625"/>
                </a:moveTo>
                <a:cubicBezTo>
                  <a:pt x="100102" y="17943"/>
                  <a:pt x="100815" y="22401"/>
                  <a:pt x="98497" y="25588"/>
                </a:cubicBezTo>
                <a:lnTo>
                  <a:pt x="41436" y="104047"/>
                </a:lnTo>
                <a:cubicBezTo>
                  <a:pt x="40210" y="105741"/>
                  <a:pt x="38315" y="106788"/>
                  <a:pt x="36220" y="106967"/>
                </a:cubicBezTo>
                <a:cubicBezTo>
                  <a:pt x="34125" y="107145"/>
                  <a:pt x="32097" y="106365"/>
                  <a:pt x="30626" y="104894"/>
                </a:cubicBezTo>
                <a:lnTo>
                  <a:pt x="2095" y="76363"/>
                </a:lnTo>
                <a:cubicBezTo>
                  <a:pt x="-691" y="73577"/>
                  <a:pt x="-691" y="69053"/>
                  <a:pt x="2095" y="66266"/>
                </a:cubicBezTo>
                <a:cubicBezTo>
                  <a:pt x="4881" y="63480"/>
                  <a:pt x="9406" y="63480"/>
                  <a:pt x="12192" y="66266"/>
                </a:cubicBezTo>
                <a:lnTo>
                  <a:pt x="34816" y="88890"/>
                </a:lnTo>
                <a:lnTo>
                  <a:pt x="86973" y="17185"/>
                </a:lnTo>
                <a:cubicBezTo>
                  <a:pt x="89291" y="13998"/>
                  <a:pt x="93749" y="13284"/>
                  <a:pt x="96937" y="15603"/>
                </a:cubicBezTo>
                <a:close/>
              </a:path>
            </a:pathLst>
          </a:custGeom>
          <a:solidFill>
            <a:srgbClr val="FAF8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4"/>
          <p:cNvSpPr/>
          <p:nvPr/>
        </p:nvSpPr>
        <p:spPr>
          <a:xfrm>
            <a:off x="7674585" y="6536638"/>
            <a:ext cx="1388480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User-friendly interface</a:t>
            </a:r>
            <a:endParaRPr lang="en-US" sz="1600" dirty="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407EF2CC-1AD1-282C-B66C-CDA128A2189D}"/>
              </a:ext>
            </a:extLst>
          </p:cNvPr>
          <p:cNvSpPr/>
          <p:nvPr/>
        </p:nvSpPr>
        <p:spPr>
          <a:xfrm>
            <a:off x="4040716" y="5763147"/>
            <a:ext cx="614989" cy="253604"/>
          </a:xfrm>
          <a:custGeom>
            <a:avLst/>
            <a:gdLst/>
            <a:ahLst/>
            <a:cxnLst/>
            <a:rect l="l" t="t" r="r" b="b"/>
            <a:pathLst>
              <a:path w="614989" h="253604">
                <a:moveTo>
                  <a:pt x="0" y="0"/>
                </a:moveTo>
                <a:lnTo>
                  <a:pt x="614989" y="0"/>
                </a:lnTo>
                <a:lnTo>
                  <a:pt x="614989" y="253604"/>
                </a:lnTo>
                <a:lnTo>
                  <a:pt x="0" y="253604"/>
                </a:lnTo>
                <a:lnTo>
                  <a:pt x="0" y="0"/>
                </a:lnTo>
                <a:close/>
              </a:path>
            </a:pathLst>
          </a:custGeom>
          <a:solidFill>
            <a:srgbClr val="FAF8F3">
              <a:alpha val="80000"/>
            </a:srgbClr>
          </a:solidFill>
          <a:ln w="8467">
            <a:solidFill>
              <a:srgbClr val="8B7355"/>
            </a:solidFill>
            <a:prstDash val="solid"/>
          </a:ln>
        </p:spPr>
        <p:txBody>
          <a:bodyPr/>
          <a:lstStyle/>
          <a:p>
            <a:r>
              <a:rPr lang="en-US" sz="1000" dirty="0">
                <a:solidFill>
                  <a:schemeClr val="accent6"/>
                </a:solidFill>
              </a:rPr>
              <a:t>Git-Hub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vectorstock.com/6c8b3e87c0708713a2e06ec5f753f2d6e03f6e80.jpg"/>
          <p:cNvPicPr>
            <a:picLocks noChangeAspect="1"/>
          </p:cNvPicPr>
          <p:nvPr/>
        </p:nvPicPr>
        <p:blipFill>
          <a:blip r:embed="rId3">
            <a:alphaModFix amt="10000"/>
          </a:blip>
          <a:srcRect t="103" b="103"/>
          <a:stretch/>
        </p:blipFill>
        <p:spPr>
          <a:xfrm flipH="1">
            <a:off x="-267527" y="0"/>
            <a:ext cx="267527" cy="146304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384175" y="384175"/>
            <a:ext cx="1473200" cy="254000"/>
          </a:xfrm>
          <a:custGeom>
            <a:avLst/>
            <a:gdLst/>
            <a:ahLst/>
            <a:cxnLst/>
            <a:rect l="l" t="t" r="r" b="b"/>
            <a:pathLst>
              <a:path w="1473200" h="254000">
                <a:moveTo>
                  <a:pt x="0" y="0"/>
                </a:moveTo>
                <a:lnTo>
                  <a:pt x="1473200" y="0"/>
                </a:lnTo>
                <a:lnTo>
                  <a:pt x="1473200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FAF8F3">
              <a:alpha val="80000"/>
            </a:srgbClr>
          </a:solidFill>
          <a:ln w="8467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81000" y="381000"/>
            <a:ext cx="1524000" cy="24765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 / Security Framework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755652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Framework &amp; Core Features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1000" y="1250952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87350" y="1371602"/>
            <a:ext cx="5622925" cy="2108200"/>
          </a:xfrm>
          <a:custGeom>
            <a:avLst/>
            <a:gdLst/>
            <a:ahLst/>
            <a:cxnLst/>
            <a:rect l="l" t="t" r="r" b="b"/>
            <a:pathLst>
              <a:path w="5622925" h="2108200">
                <a:moveTo>
                  <a:pt x="0" y="0"/>
                </a:moveTo>
                <a:lnTo>
                  <a:pt x="5622925" y="0"/>
                </a:lnTo>
                <a:lnTo>
                  <a:pt x="5622925" y="2108200"/>
                </a:lnTo>
                <a:lnTo>
                  <a:pt x="0" y="21082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 w="16933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74675" y="154940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2D5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46150" y="1530353"/>
            <a:ext cx="1781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Framework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6100" y="1873253"/>
            <a:ext cx="53816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project will mainly focus on demonstrating core information security concepts such as confidentiality, controlled access, and secure file handling.</a:t>
            </a:r>
            <a:r>
              <a:rPr lang="en-US" sz="1200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security framework is designed to provide comprehensive protection throughout the file lifecycle.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6100" y="2863853"/>
            <a:ext cx="5381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Each security mechanism is carefully selected to address specific threats while maintaining usability and performance for end users.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87350" y="3644900"/>
            <a:ext cx="5622925" cy="2441575"/>
          </a:xfrm>
          <a:custGeom>
            <a:avLst/>
            <a:gdLst/>
            <a:ahLst/>
            <a:cxnLst/>
            <a:rect l="l" t="t" r="r" b="b"/>
            <a:pathLst>
              <a:path w="5622925" h="2441575">
                <a:moveTo>
                  <a:pt x="0" y="0"/>
                </a:moveTo>
                <a:lnTo>
                  <a:pt x="5622925" y="0"/>
                </a:lnTo>
                <a:lnTo>
                  <a:pt x="5622925" y="2441575"/>
                </a:lnTo>
                <a:lnTo>
                  <a:pt x="0" y="2441575"/>
                </a:lnTo>
                <a:lnTo>
                  <a:pt x="0" y="0"/>
                </a:lnTo>
                <a:close/>
              </a:path>
            </a:pathLst>
          </a:custGeom>
          <a:solidFill>
            <a:srgbClr val="2D5A3D"/>
          </a:solidFill>
          <a:ln w="16933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46100" y="3803652"/>
            <a:ext cx="539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Mechanisms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46100" y="4162425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Confidentiality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156101" y="4149727"/>
            <a:ext cx="692150" cy="254000"/>
          </a:xfrm>
          <a:custGeom>
            <a:avLst/>
            <a:gdLst/>
            <a:ahLst/>
            <a:cxnLst/>
            <a:rect l="l" t="t" r="r" b="b"/>
            <a:pathLst>
              <a:path w="692150" h="254000">
                <a:moveTo>
                  <a:pt x="0" y="0"/>
                </a:moveTo>
                <a:lnTo>
                  <a:pt x="692150" y="0"/>
                </a:lnTo>
                <a:lnTo>
                  <a:pt x="692150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FAF8F3">
              <a:alpha val="80000"/>
            </a:srgbClr>
          </a:solidFill>
          <a:ln w="8467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152926" y="4146552"/>
            <a:ext cx="742950" cy="24765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7A756E"/>
                </a:solidFill>
                <a:latin typeface="Liter" pitchFamily="34" charset="0"/>
              </a:rPr>
              <a:t>XOR-ENC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46100" y="4445003"/>
            <a:ext cx="5372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AF8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Industry-standard encryption ensures file contents remain secret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46100" y="4714878"/>
            <a:ext cx="5305425" cy="6350"/>
          </a:xfrm>
          <a:custGeom>
            <a:avLst/>
            <a:gdLst/>
            <a:ahLst/>
            <a:cxnLst/>
            <a:rect l="l" t="t" r="r" b="b"/>
            <a:pathLst>
              <a:path w="5305425" h="6350">
                <a:moveTo>
                  <a:pt x="0" y="0"/>
                </a:moveTo>
                <a:lnTo>
                  <a:pt x="5305425" y="0"/>
                </a:lnTo>
                <a:lnTo>
                  <a:pt x="5305425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FAF8F3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46100" y="4810125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Authentication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195292" y="4797427"/>
            <a:ext cx="654050" cy="254000"/>
          </a:xfrm>
          <a:custGeom>
            <a:avLst/>
            <a:gdLst/>
            <a:ahLst/>
            <a:cxnLst/>
            <a:rect l="l" t="t" r="r" b="b"/>
            <a:pathLst>
              <a:path w="654050" h="254000">
                <a:moveTo>
                  <a:pt x="0" y="0"/>
                </a:moveTo>
                <a:lnTo>
                  <a:pt x="654050" y="0"/>
                </a:lnTo>
                <a:lnTo>
                  <a:pt x="654050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FAF8F3">
              <a:alpha val="80000"/>
            </a:srgbClr>
          </a:solidFill>
          <a:ln w="8467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192117" y="4794252"/>
            <a:ext cx="704850" cy="24765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7A756E"/>
                </a:solidFill>
                <a:latin typeface="Liter" pitchFamily="34" charset="0"/>
              </a:rPr>
              <a:t>XOR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46100" y="5092703"/>
            <a:ext cx="5372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AF8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Password-based key derivation with salt for secure verification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46100" y="5362578"/>
            <a:ext cx="5305425" cy="6350"/>
          </a:xfrm>
          <a:custGeom>
            <a:avLst/>
            <a:gdLst/>
            <a:ahLst/>
            <a:cxnLst/>
            <a:rect l="l" t="t" r="r" b="b"/>
            <a:pathLst>
              <a:path w="5305425" h="6350">
                <a:moveTo>
                  <a:pt x="0" y="0"/>
                </a:moveTo>
                <a:lnTo>
                  <a:pt x="5305425" y="0"/>
                </a:lnTo>
                <a:lnTo>
                  <a:pt x="5305425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FAF8F3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46100" y="5457825"/>
            <a:ext cx="1095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 Control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004197" y="5445131"/>
            <a:ext cx="844550" cy="254000"/>
          </a:xfrm>
          <a:custGeom>
            <a:avLst/>
            <a:gdLst/>
            <a:ahLst/>
            <a:cxnLst/>
            <a:rect l="l" t="t" r="r" b="b"/>
            <a:pathLst>
              <a:path w="844550" h="254000">
                <a:moveTo>
                  <a:pt x="0" y="0"/>
                </a:moveTo>
                <a:lnTo>
                  <a:pt x="844550" y="0"/>
                </a:lnTo>
                <a:lnTo>
                  <a:pt x="844550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FAF8F3">
              <a:alpha val="80000"/>
            </a:srgbClr>
          </a:solidFill>
          <a:ln w="8467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001022" y="5441956"/>
            <a:ext cx="895350" cy="24765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Time-Based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46100" y="5740403"/>
            <a:ext cx="5372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AF8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Automatic expiry mechanism prevents indefinite access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178550" y="1371602"/>
            <a:ext cx="5622925" cy="2308225"/>
          </a:xfrm>
          <a:custGeom>
            <a:avLst/>
            <a:gdLst/>
            <a:ahLst/>
            <a:cxnLst/>
            <a:rect l="l" t="t" r="r" b="b"/>
            <a:pathLst>
              <a:path w="5622925" h="2308225">
                <a:moveTo>
                  <a:pt x="0" y="0"/>
                </a:moveTo>
                <a:lnTo>
                  <a:pt x="5622925" y="0"/>
                </a:lnTo>
                <a:lnTo>
                  <a:pt x="5622925" y="2308225"/>
                </a:lnTo>
                <a:lnTo>
                  <a:pt x="0" y="23082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 w="16933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337300" y="1530353"/>
            <a:ext cx="539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Comparison</a:t>
            </a:r>
            <a:endParaRPr lang="en-US" sz="16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37300" y="1873253"/>
          <a:ext cx="5305426" cy="1647828"/>
        </p:xfrm>
        <a:graphic>
          <a:graphicData uri="http://schemas.openxmlformats.org/drawingml/2006/table">
            <a:tbl>
              <a:tblPr/>
              <a:tblGrid>
                <a:gridCol w="2652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81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45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2D5A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Feature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2D5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2D5A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Our System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2D5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7A756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Traditional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2D5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3D3A3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File Encryption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D5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D5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2D5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3D3A3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Password Protection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3D3A3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Time-Limited Access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3D3A3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Local Processing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3D3A3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 Cloud Dependency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1" name="Shape 27"/>
          <p:cNvSpPr/>
          <p:nvPr/>
        </p:nvSpPr>
        <p:spPr>
          <a:xfrm>
            <a:off x="6178550" y="3841753"/>
            <a:ext cx="5622925" cy="1689100"/>
          </a:xfrm>
          <a:custGeom>
            <a:avLst/>
            <a:gdLst/>
            <a:ahLst/>
            <a:cxnLst/>
            <a:rect l="l" t="t" r="r" b="b"/>
            <a:pathLst>
              <a:path w="5622925" h="1689100">
                <a:moveTo>
                  <a:pt x="0" y="0"/>
                </a:moveTo>
                <a:lnTo>
                  <a:pt x="5622925" y="0"/>
                </a:lnTo>
                <a:lnTo>
                  <a:pt x="5622925" y="1689100"/>
                </a:lnTo>
                <a:lnTo>
                  <a:pt x="0" y="16891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 w="16933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6337300" y="4000500"/>
            <a:ext cx="539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Protection Measures</a:t>
            </a:r>
            <a:endParaRPr lang="en-US" sz="1600" dirty="0"/>
          </a:p>
        </p:txBody>
      </p:sp>
      <p:sp>
        <p:nvSpPr>
          <p:cNvPr id="33" name="Shape 29"/>
          <p:cNvSpPr/>
          <p:nvPr/>
        </p:nvSpPr>
        <p:spPr>
          <a:xfrm>
            <a:off x="6375400" y="43815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38100" y="28575"/>
                </a:moveTo>
                <a:lnTo>
                  <a:pt x="38100" y="47625"/>
                </a:lnTo>
                <a:lnTo>
                  <a:pt x="76200" y="47625"/>
                </a:lnTo>
                <a:lnTo>
                  <a:pt x="76200" y="28575"/>
                </a:lnTo>
                <a:cubicBezTo>
                  <a:pt x="76200" y="18068"/>
                  <a:pt x="67657" y="9525"/>
                  <a:pt x="57150" y="9525"/>
                </a:cubicBezTo>
                <a:cubicBezTo>
                  <a:pt x="46643" y="9525"/>
                  <a:pt x="38100" y="18068"/>
                  <a:pt x="38100" y="28575"/>
                </a:cubicBezTo>
                <a:close/>
                <a:moveTo>
                  <a:pt x="19050" y="47625"/>
                </a:moveTo>
                <a:lnTo>
                  <a:pt x="19050" y="28575"/>
                </a:lnTo>
                <a:cubicBezTo>
                  <a:pt x="19050" y="7531"/>
                  <a:pt x="36106" y="-9525"/>
                  <a:pt x="57150" y="-9525"/>
                </a:cubicBezTo>
                <a:cubicBezTo>
                  <a:pt x="78194" y="-9525"/>
                  <a:pt x="95250" y="7531"/>
                  <a:pt x="95250" y="28575"/>
                </a:cubicBezTo>
                <a:lnTo>
                  <a:pt x="95250" y="47625"/>
                </a:lnTo>
                <a:cubicBezTo>
                  <a:pt x="105757" y="47625"/>
                  <a:pt x="114300" y="56168"/>
                  <a:pt x="114300" y="66675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66675"/>
                </a:lnTo>
                <a:cubicBezTo>
                  <a:pt x="0" y="56168"/>
                  <a:pt x="8543" y="47625"/>
                  <a:pt x="19050" y="47625"/>
                </a:cubicBezTo>
                <a:close/>
              </a:path>
            </a:pathLst>
          </a:custGeom>
          <a:solidFill>
            <a:srgbClr val="2D5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6604000" y="4343400"/>
            <a:ext cx="4772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End-to-End Encryption:</a:t>
            </a:r>
            <a:r>
              <a:rPr lang="en-US" sz="1200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Files encrypted before leaving sender's device</a:t>
            </a:r>
            <a:endParaRPr lang="en-US" sz="1600" dirty="0"/>
          </a:p>
        </p:txBody>
      </p:sp>
      <p:sp>
        <p:nvSpPr>
          <p:cNvPr id="35" name="Shape 31"/>
          <p:cNvSpPr/>
          <p:nvPr/>
        </p:nvSpPr>
        <p:spPr>
          <a:xfrm>
            <a:off x="6356350" y="4648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0013" y="104775"/>
                </a:moveTo>
                <a:cubicBezTo>
                  <a:pt x="128945" y="104775"/>
                  <a:pt x="152400" y="81320"/>
                  <a:pt x="152400" y="52388"/>
                </a:cubicBezTo>
                <a:cubicBezTo>
                  <a:pt x="152400" y="23455"/>
                  <a:pt x="128945" y="0"/>
                  <a:pt x="100013" y="0"/>
                </a:cubicBezTo>
                <a:cubicBezTo>
                  <a:pt x="71080" y="0"/>
                  <a:pt x="47625" y="23455"/>
                  <a:pt x="47625" y="52388"/>
                </a:cubicBezTo>
                <a:cubicBezTo>
                  <a:pt x="47625" y="57954"/>
                  <a:pt x="48488" y="63341"/>
                  <a:pt x="50096" y="68372"/>
                </a:cubicBezTo>
                <a:lnTo>
                  <a:pt x="2084" y="116384"/>
                </a:lnTo>
                <a:cubicBezTo>
                  <a:pt x="744" y="117723"/>
                  <a:pt x="0" y="119539"/>
                  <a:pt x="0" y="121444"/>
                </a:cubicBezTo>
                <a:lnTo>
                  <a:pt x="0" y="145256"/>
                </a:lnTo>
                <a:cubicBezTo>
                  <a:pt x="0" y="149215"/>
                  <a:pt x="3185" y="152400"/>
                  <a:pt x="7144" y="152400"/>
                </a:cubicBezTo>
                <a:lnTo>
                  <a:pt x="30956" y="152400"/>
                </a:lnTo>
                <a:cubicBezTo>
                  <a:pt x="34915" y="152400"/>
                  <a:pt x="38100" y="149215"/>
                  <a:pt x="38100" y="145256"/>
                </a:cubicBezTo>
                <a:lnTo>
                  <a:pt x="38100" y="133350"/>
                </a:lnTo>
                <a:lnTo>
                  <a:pt x="50006" y="133350"/>
                </a:lnTo>
                <a:cubicBezTo>
                  <a:pt x="53965" y="133350"/>
                  <a:pt x="57150" y="130165"/>
                  <a:pt x="57150" y="126206"/>
                </a:cubicBezTo>
                <a:lnTo>
                  <a:pt x="57150" y="114300"/>
                </a:lnTo>
                <a:lnTo>
                  <a:pt x="69056" y="114300"/>
                </a:lnTo>
                <a:cubicBezTo>
                  <a:pt x="70961" y="114300"/>
                  <a:pt x="72777" y="113556"/>
                  <a:pt x="74116" y="112216"/>
                </a:cubicBezTo>
                <a:lnTo>
                  <a:pt x="84028" y="102304"/>
                </a:lnTo>
                <a:cubicBezTo>
                  <a:pt x="89059" y="103912"/>
                  <a:pt x="94446" y="104775"/>
                  <a:pt x="100013" y="104775"/>
                </a:cubicBezTo>
                <a:close/>
                <a:moveTo>
                  <a:pt x="111919" y="28575"/>
                </a:moveTo>
                <a:cubicBezTo>
                  <a:pt x="118490" y="28575"/>
                  <a:pt x="123825" y="33910"/>
                  <a:pt x="123825" y="40481"/>
                </a:cubicBezTo>
                <a:cubicBezTo>
                  <a:pt x="123825" y="47052"/>
                  <a:pt x="118490" y="52388"/>
                  <a:pt x="111919" y="52388"/>
                </a:cubicBezTo>
                <a:cubicBezTo>
                  <a:pt x="105348" y="52388"/>
                  <a:pt x="100013" y="47052"/>
                  <a:pt x="100013" y="40481"/>
                </a:cubicBezTo>
                <a:cubicBezTo>
                  <a:pt x="100013" y="33910"/>
                  <a:pt x="105348" y="28575"/>
                  <a:pt x="111919" y="28575"/>
                </a:cubicBezTo>
                <a:close/>
              </a:path>
            </a:pathLst>
          </a:custGeom>
          <a:solidFill>
            <a:srgbClr val="2D5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6604000" y="4610100"/>
            <a:ext cx="3981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Secure Key Management:</a:t>
            </a:r>
            <a:r>
              <a:rPr lang="en-US" sz="1200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Password-derived keys with salt</a:t>
            </a:r>
            <a:endParaRPr lang="en-US" sz="1600" dirty="0"/>
          </a:p>
        </p:txBody>
      </p:sp>
      <p:sp>
        <p:nvSpPr>
          <p:cNvPr id="37" name="Shape 33"/>
          <p:cNvSpPr/>
          <p:nvPr/>
        </p:nvSpPr>
        <p:spPr>
          <a:xfrm>
            <a:off x="6356350" y="4914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  <a:moveTo>
                  <a:pt x="69056" y="35719"/>
                </a:moveTo>
                <a:lnTo>
                  <a:pt x="69056" y="76200"/>
                </a:lnTo>
                <a:cubicBezTo>
                  <a:pt x="69056" y="78581"/>
                  <a:pt x="70247" y="80814"/>
                  <a:pt x="72241" y="82153"/>
                </a:cubicBezTo>
                <a:lnTo>
                  <a:pt x="100816" y="101203"/>
                </a:lnTo>
                <a:cubicBezTo>
                  <a:pt x="104090" y="103406"/>
                  <a:pt x="108525" y="102513"/>
                  <a:pt x="110728" y="99209"/>
                </a:cubicBezTo>
                <a:cubicBezTo>
                  <a:pt x="112931" y="95905"/>
                  <a:pt x="112038" y="91500"/>
                  <a:pt x="108734" y="89297"/>
                </a:cubicBezTo>
                <a:lnTo>
                  <a:pt x="83344" y="72390"/>
                </a:lnTo>
                <a:lnTo>
                  <a:pt x="83344" y="35719"/>
                </a:lnTo>
                <a:cubicBezTo>
                  <a:pt x="83344" y="31760"/>
                  <a:pt x="80159" y="28575"/>
                  <a:pt x="76200" y="28575"/>
                </a:cubicBezTo>
                <a:cubicBezTo>
                  <a:pt x="72241" y="28575"/>
                  <a:pt x="69056" y="31760"/>
                  <a:pt x="69056" y="35719"/>
                </a:cubicBezTo>
                <a:close/>
              </a:path>
            </a:pathLst>
          </a:custGeom>
          <a:solidFill>
            <a:srgbClr val="2D5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6604000" y="4876800"/>
            <a:ext cx="3343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Automatic Expiry:</a:t>
            </a:r>
            <a:r>
              <a:rPr lang="en-US" sz="1200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Time-based access revocation</a:t>
            </a:r>
            <a:endParaRPr lang="en-US" sz="1600" dirty="0"/>
          </a:p>
        </p:txBody>
      </p:sp>
      <p:sp>
        <p:nvSpPr>
          <p:cNvPr id="39" name="Shape 35"/>
          <p:cNvSpPr/>
          <p:nvPr/>
        </p:nvSpPr>
        <p:spPr>
          <a:xfrm>
            <a:off x="6346825" y="51816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28575" y="0"/>
                </a:moveTo>
                <a:cubicBezTo>
                  <a:pt x="18068" y="0"/>
                  <a:pt x="9525" y="8543"/>
                  <a:pt x="9525" y="19050"/>
                </a:cubicBezTo>
                <a:lnTo>
                  <a:pt x="9525" y="133350"/>
                </a:lnTo>
                <a:cubicBezTo>
                  <a:pt x="9525" y="143857"/>
                  <a:pt x="18068" y="152400"/>
                  <a:pt x="28575" y="152400"/>
                </a:cubicBezTo>
                <a:lnTo>
                  <a:pt x="88463" y="152400"/>
                </a:lnTo>
                <a:cubicBezTo>
                  <a:pt x="77688" y="139720"/>
                  <a:pt x="71438" y="123379"/>
                  <a:pt x="71438" y="106085"/>
                </a:cubicBezTo>
                <a:lnTo>
                  <a:pt x="71438" y="96828"/>
                </a:lnTo>
                <a:cubicBezTo>
                  <a:pt x="71438" y="86588"/>
                  <a:pt x="77986" y="77480"/>
                  <a:pt x="87719" y="74235"/>
                </a:cubicBezTo>
                <a:lnTo>
                  <a:pt x="121057" y="63133"/>
                </a:lnTo>
                <a:cubicBezTo>
                  <a:pt x="121980" y="62835"/>
                  <a:pt x="122902" y="62597"/>
                  <a:pt x="123825" y="62389"/>
                </a:cubicBezTo>
                <a:lnTo>
                  <a:pt x="123825" y="50750"/>
                </a:lnTo>
                <a:cubicBezTo>
                  <a:pt x="123825" y="45690"/>
                  <a:pt x="121831" y="40838"/>
                  <a:pt x="118259" y="37267"/>
                </a:cubicBezTo>
                <a:lnTo>
                  <a:pt x="86529" y="5566"/>
                </a:lnTo>
                <a:cubicBezTo>
                  <a:pt x="82957" y="1994"/>
                  <a:pt x="78135" y="0"/>
                  <a:pt x="73075" y="0"/>
                </a:cubicBezTo>
                <a:lnTo>
                  <a:pt x="28575" y="0"/>
                </a:lnTo>
                <a:close/>
                <a:moveTo>
                  <a:pt x="106412" y="52388"/>
                </a:moveTo>
                <a:lnTo>
                  <a:pt x="78581" y="52388"/>
                </a:lnTo>
                <a:cubicBezTo>
                  <a:pt x="74622" y="52388"/>
                  <a:pt x="71438" y="49203"/>
                  <a:pt x="71438" y="45244"/>
                </a:cubicBezTo>
                <a:lnTo>
                  <a:pt x="71438" y="17413"/>
                </a:lnTo>
                <a:lnTo>
                  <a:pt x="106412" y="52388"/>
                </a:lnTo>
                <a:close/>
                <a:moveTo>
                  <a:pt x="132546" y="145405"/>
                </a:moveTo>
                <a:lnTo>
                  <a:pt x="128588" y="147280"/>
                </a:lnTo>
                <a:lnTo>
                  <a:pt x="128588" y="91291"/>
                </a:lnTo>
                <a:lnTo>
                  <a:pt x="157163" y="100816"/>
                </a:lnTo>
                <a:lnTo>
                  <a:pt x="157163" y="106650"/>
                </a:lnTo>
                <a:cubicBezTo>
                  <a:pt x="157163" y="123259"/>
                  <a:pt x="147578" y="138351"/>
                  <a:pt x="132546" y="145435"/>
                </a:cubicBezTo>
                <a:close/>
                <a:moveTo>
                  <a:pt x="125581" y="77242"/>
                </a:moveTo>
                <a:lnTo>
                  <a:pt x="92244" y="88344"/>
                </a:lnTo>
                <a:cubicBezTo>
                  <a:pt x="88344" y="89654"/>
                  <a:pt x="85725" y="93285"/>
                  <a:pt x="85725" y="97393"/>
                </a:cubicBezTo>
                <a:lnTo>
                  <a:pt x="85725" y="106650"/>
                </a:lnTo>
                <a:cubicBezTo>
                  <a:pt x="85725" y="128796"/>
                  <a:pt x="98524" y="148947"/>
                  <a:pt x="118527" y="158353"/>
                </a:cubicBezTo>
                <a:lnTo>
                  <a:pt x="124033" y="160943"/>
                </a:lnTo>
                <a:cubicBezTo>
                  <a:pt x="125462" y="161598"/>
                  <a:pt x="127010" y="161955"/>
                  <a:pt x="128558" y="161955"/>
                </a:cubicBezTo>
                <a:cubicBezTo>
                  <a:pt x="130106" y="161955"/>
                  <a:pt x="131683" y="161598"/>
                  <a:pt x="133082" y="160943"/>
                </a:cubicBezTo>
                <a:lnTo>
                  <a:pt x="138589" y="158353"/>
                </a:lnTo>
                <a:cubicBezTo>
                  <a:pt x="158651" y="148917"/>
                  <a:pt x="171450" y="128766"/>
                  <a:pt x="171450" y="106620"/>
                </a:cubicBezTo>
                <a:lnTo>
                  <a:pt x="171450" y="97363"/>
                </a:lnTo>
                <a:cubicBezTo>
                  <a:pt x="171450" y="93256"/>
                  <a:pt x="168831" y="89624"/>
                  <a:pt x="164931" y="88315"/>
                </a:cubicBezTo>
                <a:lnTo>
                  <a:pt x="131594" y="77212"/>
                </a:lnTo>
                <a:cubicBezTo>
                  <a:pt x="129629" y="76557"/>
                  <a:pt x="127516" y="76557"/>
                  <a:pt x="125581" y="77212"/>
                </a:cubicBezTo>
                <a:close/>
              </a:path>
            </a:pathLst>
          </a:custGeom>
          <a:solidFill>
            <a:srgbClr val="2D5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/>
          <p:nvPr/>
        </p:nvSpPr>
        <p:spPr>
          <a:xfrm>
            <a:off x="6604000" y="5143500"/>
            <a:ext cx="396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Integrity Verification:</a:t>
            </a:r>
            <a:r>
              <a:rPr lang="en-US" sz="1200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Checksum validation for file integrity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4.ftcdn.net/90c2027490ba41af3095478b0d5f71a4a29b3060.jpg"/>
          <p:cNvPicPr>
            <a:picLocks noChangeAspect="1"/>
          </p:cNvPicPr>
          <p:nvPr/>
        </p:nvPicPr>
        <p:blipFill>
          <a:blip r:embed="rId3">
            <a:alphaModFix amt="15000"/>
          </a:blip>
          <a:srcRect l="92" r="92"/>
          <a:stretch/>
        </p:blipFill>
        <p:spPr>
          <a:xfrm>
            <a:off x="8534400" y="0"/>
            <a:ext cx="3657600" cy="2438400"/>
          </a:xfrm>
          <a:prstGeom prst="roundRect">
            <a:avLst>
              <a:gd name="adj" fmla="val 0"/>
            </a:avLst>
          </a:prstGeom>
        </p:spPr>
      </p:pic>
      <p:pic>
        <p:nvPicPr>
          <p:cNvPr id="3" name="Image 1" descr="https://kimi-web-img.moonshot.cn/img/c8.alamy.com/cfa836a876c61dd6a05ed6fcdbaa0cc456137d49.jpg"/>
          <p:cNvPicPr>
            <a:picLocks noChangeAspect="1"/>
          </p:cNvPicPr>
          <p:nvPr/>
        </p:nvPicPr>
        <p:blipFill>
          <a:blip r:embed="rId4">
            <a:alphaModFix amt="15000"/>
          </a:blip>
          <a:srcRect t="42" b="42"/>
          <a:stretch/>
        </p:blipFill>
        <p:spPr>
          <a:xfrm>
            <a:off x="-1" y="1633936"/>
            <a:ext cx="3264129" cy="5589821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0"/>
          <p:cNvSpPr/>
          <p:nvPr/>
        </p:nvSpPr>
        <p:spPr>
          <a:xfrm>
            <a:off x="384175" y="190503"/>
            <a:ext cx="1101725" cy="254000"/>
          </a:xfrm>
          <a:custGeom>
            <a:avLst/>
            <a:gdLst/>
            <a:ahLst/>
            <a:cxnLst/>
            <a:rect l="l" t="t" r="r" b="b"/>
            <a:pathLst>
              <a:path w="1101725" h="254000">
                <a:moveTo>
                  <a:pt x="0" y="0"/>
                </a:moveTo>
                <a:lnTo>
                  <a:pt x="1101725" y="0"/>
                </a:lnTo>
                <a:lnTo>
                  <a:pt x="1101725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FAF8F3">
              <a:alpha val="80000"/>
            </a:srgbClr>
          </a:solidFill>
          <a:ln w="8467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1"/>
          <p:cNvSpPr/>
          <p:nvPr/>
        </p:nvSpPr>
        <p:spPr>
          <a:xfrm>
            <a:off x="381000" y="187328"/>
            <a:ext cx="1152525" cy="24765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Summary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381000" y="676275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Scope &amp; Expected Outcomes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381000" y="1362075"/>
            <a:ext cx="1524000" cy="0"/>
          </a:xfrm>
          <a:custGeom>
            <a:avLst/>
            <a:gdLst/>
            <a:ahLst/>
            <a:cxnLst/>
            <a:rect l="l" t="t" r="r" b="b"/>
            <a:pathLst>
              <a:path w="1524000">
                <a:moveTo>
                  <a:pt x="0" y="0"/>
                </a:moveTo>
                <a:lnTo>
                  <a:pt x="1524000" y="0"/>
                </a:lnTo>
                <a:lnTo>
                  <a:pt x="152400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387350" y="1597025"/>
            <a:ext cx="5584825" cy="2298700"/>
          </a:xfrm>
          <a:custGeom>
            <a:avLst/>
            <a:gdLst/>
            <a:ahLst/>
            <a:cxnLst/>
            <a:rect l="l" t="t" r="r" b="b"/>
            <a:pathLst>
              <a:path w="5584825" h="2298700">
                <a:moveTo>
                  <a:pt x="0" y="0"/>
                </a:moveTo>
                <a:lnTo>
                  <a:pt x="5584825" y="0"/>
                </a:lnTo>
                <a:lnTo>
                  <a:pt x="5584825" y="2298700"/>
                </a:lnTo>
                <a:lnTo>
                  <a:pt x="0" y="22987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 w="16933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598488" y="1812931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-7144"/>
                </a:moveTo>
                <a:cubicBezTo>
                  <a:pt x="136490" y="-7144"/>
                  <a:pt x="142875" y="-759"/>
                  <a:pt x="142875" y="7144"/>
                </a:cubicBezTo>
                <a:lnTo>
                  <a:pt x="142875" y="15314"/>
                </a:lnTo>
                <a:cubicBezTo>
                  <a:pt x="186675" y="21565"/>
                  <a:pt x="221322" y="56212"/>
                  <a:pt x="227573" y="100013"/>
                </a:cubicBezTo>
                <a:lnTo>
                  <a:pt x="235744" y="100013"/>
                </a:lnTo>
                <a:cubicBezTo>
                  <a:pt x="243647" y="100013"/>
                  <a:pt x="250031" y="106397"/>
                  <a:pt x="250031" y="114300"/>
                </a:cubicBezTo>
                <a:cubicBezTo>
                  <a:pt x="250031" y="122203"/>
                  <a:pt x="243647" y="128588"/>
                  <a:pt x="235744" y="128588"/>
                </a:cubicBezTo>
                <a:lnTo>
                  <a:pt x="227573" y="128588"/>
                </a:lnTo>
                <a:cubicBezTo>
                  <a:pt x="221322" y="172388"/>
                  <a:pt x="186675" y="207035"/>
                  <a:pt x="142875" y="213286"/>
                </a:cubicBezTo>
                <a:lnTo>
                  <a:pt x="142875" y="221456"/>
                </a:lnTo>
                <a:cubicBezTo>
                  <a:pt x="142875" y="229359"/>
                  <a:pt x="136490" y="235744"/>
                  <a:pt x="128588" y="235744"/>
                </a:cubicBezTo>
                <a:cubicBezTo>
                  <a:pt x="120685" y="235744"/>
                  <a:pt x="114300" y="229359"/>
                  <a:pt x="114300" y="221456"/>
                </a:cubicBezTo>
                <a:lnTo>
                  <a:pt x="114300" y="213286"/>
                </a:lnTo>
                <a:cubicBezTo>
                  <a:pt x="70500" y="207035"/>
                  <a:pt x="35853" y="172388"/>
                  <a:pt x="29602" y="128588"/>
                </a:cubicBezTo>
                <a:lnTo>
                  <a:pt x="21431" y="128588"/>
                </a:lnTo>
                <a:cubicBezTo>
                  <a:pt x="13528" y="128588"/>
                  <a:pt x="7144" y="122203"/>
                  <a:pt x="7144" y="114300"/>
                </a:cubicBezTo>
                <a:cubicBezTo>
                  <a:pt x="7144" y="106397"/>
                  <a:pt x="13528" y="100013"/>
                  <a:pt x="21431" y="100013"/>
                </a:cubicBezTo>
                <a:lnTo>
                  <a:pt x="29602" y="100013"/>
                </a:lnTo>
                <a:cubicBezTo>
                  <a:pt x="35853" y="56212"/>
                  <a:pt x="70500" y="21565"/>
                  <a:pt x="114300" y="15314"/>
                </a:cubicBezTo>
                <a:lnTo>
                  <a:pt x="114300" y="7144"/>
                </a:lnTo>
                <a:cubicBezTo>
                  <a:pt x="114300" y="-759"/>
                  <a:pt x="120685" y="-7144"/>
                  <a:pt x="128588" y="-7144"/>
                </a:cubicBezTo>
                <a:close/>
                <a:moveTo>
                  <a:pt x="58579" y="128588"/>
                </a:moveTo>
                <a:cubicBezTo>
                  <a:pt x="64249" y="156582"/>
                  <a:pt x="86305" y="178638"/>
                  <a:pt x="114300" y="184309"/>
                </a:cubicBezTo>
                <a:lnTo>
                  <a:pt x="114300" y="178594"/>
                </a:lnTo>
                <a:cubicBezTo>
                  <a:pt x="114300" y="170691"/>
                  <a:pt x="120685" y="164306"/>
                  <a:pt x="128588" y="164306"/>
                </a:cubicBezTo>
                <a:cubicBezTo>
                  <a:pt x="136490" y="164306"/>
                  <a:pt x="142875" y="170691"/>
                  <a:pt x="142875" y="178594"/>
                </a:cubicBezTo>
                <a:lnTo>
                  <a:pt x="142875" y="184309"/>
                </a:lnTo>
                <a:cubicBezTo>
                  <a:pt x="170870" y="178638"/>
                  <a:pt x="192926" y="156582"/>
                  <a:pt x="198596" y="128588"/>
                </a:cubicBezTo>
                <a:lnTo>
                  <a:pt x="192881" y="128588"/>
                </a:lnTo>
                <a:cubicBezTo>
                  <a:pt x="184978" y="128588"/>
                  <a:pt x="178594" y="122203"/>
                  <a:pt x="178594" y="114300"/>
                </a:cubicBezTo>
                <a:cubicBezTo>
                  <a:pt x="178594" y="106397"/>
                  <a:pt x="184978" y="100013"/>
                  <a:pt x="192881" y="100013"/>
                </a:cubicBezTo>
                <a:lnTo>
                  <a:pt x="198596" y="100013"/>
                </a:lnTo>
                <a:cubicBezTo>
                  <a:pt x="192926" y="72018"/>
                  <a:pt x="170870" y="49962"/>
                  <a:pt x="142875" y="44291"/>
                </a:cubicBezTo>
                <a:lnTo>
                  <a:pt x="142875" y="50006"/>
                </a:lnTo>
                <a:cubicBezTo>
                  <a:pt x="142875" y="57909"/>
                  <a:pt x="136490" y="64294"/>
                  <a:pt x="128588" y="64294"/>
                </a:cubicBezTo>
                <a:cubicBezTo>
                  <a:pt x="120685" y="64294"/>
                  <a:pt x="114300" y="57909"/>
                  <a:pt x="114300" y="50006"/>
                </a:cubicBezTo>
                <a:lnTo>
                  <a:pt x="114300" y="44291"/>
                </a:lnTo>
                <a:cubicBezTo>
                  <a:pt x="86305" y="49962"/>
                  <a:pt x="64249" y="72018"/>
                  <a:pt x="58579" y="100013"/>
                </a:cubicBezTo>
                <a:lnTo>
                  <a:pt x="64294" y="100013"/>
                </a:lnTo>
                <a:cubicBezTo>
                  <a:pt x="72197" y="100013"/>
                  <a:pt x="78581" y="106397"/>
                  <a:pt x="78581" y="114300"/>
                </a:cubicBezTo>
                <a:cubicBezTo>
                  <a:pt x="78581" y="122203"/>
                  <a:pt x="72197" y="128588"/>
                  <a:pt x="64294" y="128588"/>
                </a:cubicBezTo>
                <a:lnTo>
                  <a:pt x="58579" y="128588"/>
                </a:lnTo>
                <a:close/>
                <a:moveTo>
                  <a:pt x="128588" y="92869"/>
                </a:moveTo>
                <a:cubicBezTo>
                  <a:pt x="140416" y="92869"/>
                  <a:pt x="150019" y="102472"/>
                  <a:pt x="150019" y="114300"/>
                </a:cubicBezTo>
                <a:cubicBezTo>
                  <a:pt x="150019" y="126128"/>
                  <a:pt x="140416" y="135731"/>
                  <a:pt x="128588" y="135731"/>
                </a:cubicBezTo>
                <a:cubicBezTo>
                  <a:pt x="116759" y="135731"/>
                  <a:pt x="107156" y="126128"/>
                  <a:pt x="107156" y="114300"/>
                </a:cubicBezTo>
                <a:cubicBezTo>
                  <a:pt x="107156" y="102472"/>
                  <a:pt x="116759" y="92869"/>
                  <a:pt x="128588" y="92869"/>
                </a:cubicBezTo>
                <a:close/>
              </a:path>
            </a:pathLst>
          </a:custGeom>
          <a:solidFill>
            <a:srgbClr val="2D5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984250" y="1793881"/>
            <a:ext cx="126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Scope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84200" y="2174881"/>
            <a:ext cx="52673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project will be developed as a prototype system focusing on demonstrating core information security concepts.</a:t>
            </a:r>
            <a:r>
              <a:rPr lang="en-US" sz="1200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It will not include advanced cloud integration or enterprise-level security features.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84200" y="2974981"/>
            <a:ext cx="52673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scope is intentionally focused to ensure thorough implementation and demonstration of fundamental security principles within an academic project timeline.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216650" y="1597025"/>
            <a:ext cx="5584825" cy="2298700"/>
          </a:xfrm>
          <a:custGeom>
            <a:avLst/>
            <a:gdLst/>
            <a:ahLst/>
            <a:cxnLst/>
            <a:rect l="l" t="t" r="r" b="b"/>
            <a:pathLst>
              <a:path w="5584825" h="2298700">
                <a:moveTo>
                  <a:pt x="0" y="0"/>
                </a:moveTo>
                <a:lnTo>
                  <a:pt x="5584825" y="0"/>
                </a:lnTo>
                <a:lnTo>
                  <a:pt x="5584825" y="2298700"/>
                </a:lnTo>
                <a:lnTo>
                  <a:pt x="0" y="2298700"/>
                </a:lnTo>
                <a:lnTo>
                  <a:pt x="0" y="0"/>
                </a:lnTo>
                <a:close/>
              </a:path>
            </a:pathLst>
          </a:custGeom>
          <a:solidFill>
            <a:srgbClr val="2D5A3D"/>
          </a:solidFill>
          <a:ln w="16933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442075" y="181293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4428" y="0"/>
                </a:moveTo>
                <a:lnTo>
                  <a:pt x="164440" y="0"/>
                </a:lnTo>
                <a:cubicBezTo>
                  <a:pt x="176272" y="0"/>
                  <a:pt x="185916" y="9733"/>
                  <a:pt x="185470" y="21521"/>
                </a:cubicBezTo>
                <a:cubicBezTo>
                  <a:pt x="185380" y="23887"/>
                  <a:pt x="185291" y="26253"/>
                  <a:pt x="185157" y="28575"/>
                </a:cubicBezTo>
                <a:lnTo>
                  <a:pt x="207303" y="28575"/>
                </a:lnTo>
                <a:cubicBezTo>
                  <a:pt x="218956" y="28575"/>
                  <a:pt x="229225" y="38219"/>
                  <a:pt x="228332" y="50810"/>
                </a:cubicBezTo>
                <a:cubicBezTo>
                  <a:pt x="224983" y="97110"/>
                  <a:pt x="201320" y="122560"/>
                  <a:pt x="175647" y="135865"/>
                </a:cubicBezTo>
                <a:cubicBezTo>
                  <a:pt x="168593" y="139526"/>
                  <a:pt x="161404" y="142250"/>
                  <a:pt x="154573" y="144259"/>
                </a:cubicBezTo>
                <a:cubicBezTo>
                  <a:pt x="145554" y="157029"/>
                  <a:pt x="136178" y="163770"/>
                  <a:pt x="128721" y="167387"/>
                </a:cubicBezTo>
                <a:lnTo>
                  <a:pt x="128721" y="200025"/>
                </a:lnTo>
                <a:lnTo>
                  <a:pt x="157296" y="200025"/>
                </a:lnTo>
                <a:cubicBezTo>
                  <a:pt x="165199" y="200025"/>
                  <a:pt x="171584" y="206410"/>
                  <a:pt x="171584" y="214313"/>
                </a:cubicBezTo>
                <a:cubicBezTo>
                  <a:pt x="171584" y="222215"/>
                  <a:pt x="165199" y="228600"/>
                  <a:pt x="157296" y="228600"/>
                </a:cubicBezTo>
                <a:lnTo>
                  <a:pt x="71571" y="228600"/>
                </a:lnTo>
                <a:cubicBezTo>
                  <a:pt x="63669" y="228600"/>
                  <a:pt x="57284" y="222215"/>
                  <a:pt x="57284" y="214313"/>
                </a:cubicBezTo>
                <a:cubicBezTo>
                  <a:pt x="57284" y="206410"/>
                  <a:pt x="63669" y="200025"/>
                  <a:pt x="71571" y="200025"/>
                </a:cubicBezTo>
                <a:lnTo>
                  <a:pt x="100146" y="200025"/>
                </a:lnTo>
                <a:lnTo>
                  <a:pt x="100146" y="167387"/>
                </a:lnTo>
                <a:cubicBezTo>
                  <a:pt x="93003" y="163949"/>
                  <a:pt x="84118" y="157564"/>
                  <a:pt x="75456" y="145822"/>
                </a:cubicBezTo>
                <a:cubicBezTo>
                  <a:pt x="67241" y="143679"/>
                  <a:pt x="58311" y="140419"/>
                  <a:pt x="49604" y="135508"/>
                </a:cubicBezTo>
                <a:cubicBezTo>
                  <a:pt x="25450" y="121980"/>
                  <a:pt x="3661" y="96485"/>
                  <a:pt x="536" y="50721"/>
                </a:cubicBezTo>
                <a:cubicBezTo>
                  <a:pt x="-313" y="38174"/>
                  <a:pt x="9912" y="28530"/>
                  <a:pt x="21565" y="28530"/>
                </a:cubicBezTo>
                <a:lnTo>
                  <a:pt x="43711" y="28530"/>
                </a:lnTo>
                <a:cubicBezTo>
                  <a:pt x="43577" y="26209"/>
                  <a:pt x="43488" y="23887"/>
                  <a:pt x="43398" y="21476"/>
                </a:cubicBezTo>
                <a:cubicBezTo>
                  <a:pt x="42952" y="9644"/>
                  <a:pt x="52596" y="-45"/>
                  <a:pt x="64428" y="-45"/>
                </a:cubicBezTo>
                <a:close/>
                <a:moveTo>
                  <a:pt x="45318" y="50006"/>
                </a:moveTo>
                <a:lnTo>
                  <a:pt x="21922" y="50006"/>
                </a:lnTo>
                <a:cubicBezTo>
                  <a:pt x="24691" y="87823"/>
                  <a:pt x="42059" y="106754"/>
                  <a:pt x="59963" y="116800"/>
                </a:cubicBezTo>
                <a:cubicBezTo>
                  <a:pt x="53533" y="100146"/>
                  <a:pt x="48220" y="78403"/>
                  <a:pt x="45318" y="50006"/>
                </a:cubicBezTo>
                <a:close/>
                <a:moveTo>
                  <a:pt x="169664" y="114657"/>
                </a:moveTo>
                <a:cubicBezTo>
                  <a:pt x="187747" y="104031"/>
                  <a:pt x="204088" y="85145"/>
                  <a:pt x="206856" y="50006"/>
                </a:cubicBezTo>
                <a:lnTo>
                  <a:pt x="183505" y="50006"/>
                </a:lnTo>
                <a:cubicBezTo>
                  <a:pt x="180737" y="77197"/>
                  <a:pt x="175736" y="98316"/>
                  <a:pt x="169664" y="114657"/>
                </a:cubicBezTo>
                <a:close/>
              </a:path>
            </a:pathLst>
          </a:custGeom>
          <a:solidFill>
            <a:srgbClr val="FAF8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813550" y="1793881"/>
            <a:ext cx="1800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Expected Outcomes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432550" y="221298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AF8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680200" y="2174881"/>
            <a:ext cx="5000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Functional Secure File Distribution System:</a:t>
            </a:r>
            <a:r>
              <a:rPr lang="en-US" sz="1200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Working prototype with encryption, authentication, and time-based access control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432550" y="274638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AF8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6680200" y="2708281"/>
            <a:ext cx="5000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Demonstration of Security Principles:</a:t>
            </a:r>
            <a:r>
              <a:rPr lang="en-US" sz="1200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Practical showcase of confidentiality, controlled access, and secure file handling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432550" y="327978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AF8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6680200" y="3241681"/>
            <a:ext cx="5000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Foundation for Future Development:</a:t>
            </a:r>
            <a:r>
              <a:rPr lang="en-US" sz="1200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Extensible architecture supporting future enterprise features and cloud integration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387350" y="4137028"/>
            <a:ext cx="11414125" cy="1727200"/>
          </a:xfrm>
          <a:custGeom>
            <a:avLst/>
            <a:gdLst/>
            <a:ahLst/>
            <a:cxnLst/>
            <a:rect l="l" t="t" r="r" b="b"/>
            <a:pathLst>
              <a:path w="11414125" h="1727200">
                <a:moveTo>
                  <a:pt x="0" y="0"/>
                </a:moveTo>
                <a:lnTo>
                  <a:pt x="11414125" y="0"/>
                </a:lnTo>
                <a:lnTo>
                  <a:pt x="11414125" y="1727200"/>
                </a:lnTo>
                <a:lnTo>
                  <a:pt x="0" y="17272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 w="16933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546100" y="4295775"/>
            <a:ext cx="11182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Deliverables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1609725" y="46767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2D5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1762125" y="48291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57163"/>
                </a:lnTo>
                <a:cubicBezTo>
                  <a:pt x="0" y="172923"/>
                  <a:pt x="12814" y="185738"/>
                  <a:pt x="28575" y="185738"/>
                </a:cubicBezTo>
                <a:lnTo>
                  <a:pt x="92869" y="185738"/>
                </a:lnTo>
                <a:lnTo>
                  <a:pt x="85725" y="207169"/>
                </a:lnTo>
                <a:lnTo>
                  <a:pt x="53578" y="207169"/>
                </a:lnTo>
                <a:cubicBezTo>
                  <a:pt x="47640" y="207169"/>
                  <a:pt x="42863" y="211946"/>
                  <a:pt x="42863" y="217884"/>
                </a:cubicBezTo>
                <a:cubicBezTo>
                  <a:pt x="42863" y="223823"/>
                  <a:pt x="47640" y="228600"/>
                  <a:pt x="53578" y="228600"/>
                </a:cubicBezTo>
                <a:lnTo>
                  <a:pt x="175022" y="228600"/>
                </a:lnTo>
                <a:cubicBezTo>
                  <a:pt x="180960" y="228600"/>
                  <a:pt x="185738" y="223823"/>
                  <a:pt x="185738" y="217884"/>
                </a:cubicBezTo>
                <a:cubicBezTo>
                  <a:pt x="185738" y="211946"/>
                  <a:pt x="180960" y="207169"/>
                  <a:pt x="175022" y="207169"/>
                </a:cubicBezTo>
                <a:lnTo>
                  <a:pt x="142875" y="207169"/>
                </a:lnTo>
                <a:lnTo>
                  <a:pt x="135731" y="185738"/>
                </a:lnTo>
                <a:lnTo>
                  <a:pt x="200025" y="185738"/>
                </a:lnTo>
                <a:cubicBezTo>
                  <a:pt x="215786" y="185738"/>
                  <a:pt x="228600" y="172923"/>
                  <a:pt x="228600" y="157163"/>
                </a:cubicBezTo>
                <a:lnTo>
                  <a:pt x="228600" y="42863"/>
                </a:lnTo>
                <a:cubicBezTo>
                  <a:pt x="228600" y="27102"/>
                  <a:pt x="215786" y="14288"/>
                  <a:pt x="200025" y="14288"/>
                </a:cubicBezTo>
                <a:lnTo>
                  <a:pt x="28575" y="14288"/>
                </a:lnTo>
                <a:close/>
                <a:moveTo>
                  <a:pt x="42863" y="42863"/>
                </a:moveTo>
                <a:lnTo>
                  <a:pt x="185738" y="42863"/>
                </a:lnTo>
                <a:cubicBezTo>
                  <a:pt x="193640" y="42863"/>
                  <a:pt x="200025" y="49247"/>
                  <a:pt x="200025" y="57150"/>
                </a:cubicBezTo>
                <a:lnTo>
                  <a:pt x="200025" y="128588"/>
                </a:lnTo>
                <a:cubicBezTo>
                  <a:pt x="200025" y="136490"/>
                  <a:pt x="193640" y="142875"/>
                  <a:pt x="185738" y="142875"/>
                </a:cubicBezTo>
                <a:lnTo>
                  <a:pt x="42863" y="142875"/>
                </a:lnTo>
                <a:cubicBezTo>
                  <a:pt x="34960" y="142875"/>
                  <a:pt x="28575" y="136490"/>
                  <a:pt x="28575" y="128588"/>
                </a:cubicBezTo>
                <a:lnTo>
                  <a:pt x="28575" y="57150"/>
                </a:lnTo>
                <a:cubicBezTo>
                  <a:pt x="28575" y="49247"/>
                  <a:pt x="34960" y="42863"/>
                  <a:pt x="42863" y="42863"/>
                </a:cubicBezTo>
                <a:close/>
              </a:path>
            </a:pathLst>
          </a:custGeom>
          <a:solidFill>
            <a:srgbClr val="FAF8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508000" y="5286375"/>
            <a:ext cx="273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Desktop System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512763" y="5514975"/>
            <a:ext cx="2724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Functional prototype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4422775" y="46767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7D9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4589463" y="48291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71450" y="228600"/>
                </a:moveTo>
                <a:lnTo>
                  <a:pt x="42863" y="228600"/>
                </a:lnTo>
                <a:cubicBezTo>
                  <a:pt x="19199" y="228600"/>
                  <a:pt x="0" y="209401"/>
                  <a:pt x="0" y="185738"/>
                </a:cubicBezTo>
                <a:lnTo>
                  <a:pt x="0" y="42863"/>
                </a:lnTo>
                <a:cubicBezTo>
                  <a:pt x="0" y="19199"/>
                  <a:pt x="19199" y="0"/>
                  <a:pt x="42863" y="0"/>
                </a:cubicBezTo>
                <a:lnTo>
                  <a:pt x="178594" y="0"/>
                </a:lnTo>
                <a:cubicBezTo>
                  <a:pt x="190426" y="0"/>
                  <a:pt x="200025" y="9599"/>
                  <a:pt x="200025" y="21431"/>
                </a:cubicBezTo>
                <a:lnTo>
                  <a:pt x="200025" y="150019"/>
                </a:lnTo>
                <a:cubicBezTo>
                  <a:pt x="200025" y="159350"/>
                  <a:pt x="194042" y="167298"/>
                  <a:pt x="185738" y="170244"/>
                </a:cubicBezTo>
                <a:lnTo>
                  <a:pt x="185738" y="200025"/>
                </a:lnTo>
                <a:cubicBezTo>
                  <a:pt x="193640" y="200025"/>
                  <a:pt x="200025" y="206410"/>
                  <a:pt x="200025" y="214313"/>
                </a:cubicBezTo>
                <a:cubicBezTo>
                  <a:pt x="200025" y="222215"/>
                  <a:pt x="193640" y="228600"/>
                  <a:pt x="185738" y="228600"/>
                </a:cubicBezTo>
                <a:lnTo>
                  <a:pt x="171450" y="228600"/>
                </a:lnTo>
                <a:close/>
                <a:moveTo>
                  <a:pt x="42863" y="171450"/>
                </a:moveTo>
                <a:cubicBezTo>
                  <a:pt x="34960" y="171450"/>
                  <a:pt x="28575" y="177835"/>
                  <a:pt x="28575" y="185738"/>
                </a:cubicBezTo>
                <a:cubicBezTo>
                  <a:pt x="28575" y="193640"/>
                  <a:pt x="34960" y="200025"/>
                  <a:pt x="42863" y="200025"/>
                </a:cubicBezTo>
                <a:lnTo>
                  <a:pt x="157163" y="200025"/>
                </a:lnTo>
                <a:lnTo>
                  <a:pt x="157163" y="171450"/>
                </a:lnTo>
                <a:lnTo>
                  <a:pt x="42863" y="171450"/>
                </a:lnTo>
                <a:close/>
                <a:moveTo>
                  <a:pt x="57150" y="67866"/>
                </a:moveTo>
                <a:cubicBezTo>
                  <a:pt x="57150" y="73804"/>
                  <a:pt x="61927" y="78581"/>
                  <a:pt x="67866" y="78581"/>
                </a:cubicBezTo>
                <a:lnTo>
                  <a:pt x="146447" y="78581"/>
                </a:lnTo>
                <a:cubicBezTo>
                  <a:pt x="152385" y="78581"/>
                  <a:pt x="157163" y="73804"/>
                  <a:pt x="157163" y="67866"/>
                </a:cubicBezTo>
                <a:cubicBezTo>
                  <a:pt x="157163" y="61927"/>
                  <a:pt x="152385" y="57150"/>
                  <a:pt x="146447" y="57150"/>
                </a:cubicBezTo>
                <a:lnTo>
                  <a:pt x="67866" y="57150"/>
                </a:lnTo>
                <a:cubicBezTo>
                  <a:pt x="61927" y="57150"/>
                  <a:pt x="57150" y="61927"/>
                  <a:pt x="57150" y="67866"/>
                </a:cubicBezTo>
                <a:close/>
                <a:moveTo>
                  <a:pt x="67866" y="100013"/>
                </a:moveTo>
                <a:cubicBezTo>
                  <a:pt x="61927" y="100013"/>
                  <a:pt x="57150" y="104790"/>
                  <a:pt x="57150" y="110728"/>
                </a:cubicBezTo>
                <a:cubicBezTo>
                  <a:pt x="57150" y="116666"/>
                  <a:pt x="61927" y="121444"/>
                  <a:pt x="67866" y="121444"/>
                </a:cubicBezTo>
                <a:lnTo>
                  <a:pt x="146447" y="121444"/>
                </a:lnTo>
                <a:cubicBezTo>
                  <a:pt x="152385" y="121444"/>
                  <a:pt x="157163" y="116666"/>
                  <a:pt x="157163" y="110728"/>
                </a:cubicBezTo>
                <a:cubicBezTo>
                  <a:pt x="157163" y="104790"/>
                  <a:pt x="152385" y="100013"/>
                  <a:pt x="146447" y="100013"/>
                </a:cubicBezTo>
                <a:lnTo>
                  <a:pt x="67866" y="100013"/>
                </a:lnTo>
                <a:close/>
              </a:path>
            </a:pathLst>
          </a:custGeom>
          <a:solidFill>
            <a:srgbClr val="FAF8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3321050" y="5286375"/>
            <a:ext cx="273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Documentation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3325813" y="5514975"/>
            <a:ext cx="2724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&amp; user guides</a:t>
            </a:r>
            <a:endParaRPr lang="en-US" sz="1600" dirty="0"/>
          </a:p>
        </p:txBody>
      </p:sp>
      <p:sp>
        <p:nvSpPr>
          <p:cNvPr id="32" name="Shape 28"/>
          <p:cNvSpPr/>
          <p:nvPr/>
        </p:nvSpPr>
        <p:spPr>
          <a:xfrm>
            <a:off x="7235825" y="46767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9"/>
          <p:cNvSpPr/>
          <p:nvPr/>
        </p:nvSpPr>
        <p:spPr>
          <a:xfrm>
            <a:off x="7388225" y="48291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2966" y="4197"/>
                </a:moveTo>
                <a:cubicBezTo>
                  <a:pt x="147384" y="-1384"/>
                  <a:pt x="138321" y="-1384"/>
                  <a:pt x="132740" y="4197"/>
                </a:cubicBezTo>
                <a:cubicBezTo>
                  <a:pt x="127159" y="9778"/>
                  <a:pt x="127159" y="18842"/>
                  <a:pt x="132740" y="24423"/>
                </a:cubicBezTo>
                <a:lnTo>
                  <a:pt x="136937" y="28575"/>
                </a:lnTo>
                <a:lnTo>
                  <a:pt x="12546" y="152966"/>
                </a:lnTo>
                <a:cubicBezTo>
                  <a:pt x="4509" y="161002"/>
                  <a:pt x="0" y="171896"/>
                  <a:pt x="0" y="183282"/>
                </a:cubicBezTo>
                <a:lnTo>
                  <a:pt x="0" y="185738"/>
                </a:lnTo>
                <a:cubicBezTo>
                  <a:pt x="0" y="209401"/>
                  <a:pt x="19199" y="228600"/>
                  <a:pt x="42863" y="228600"/>
                </a:cubicBezTo>
                <a:lnTo>
                  <a:pt x="45318" y="228600"/>
                </a:lnTo>
                <a:cubicBezTo>
                  <a:pt x="56704" y="228600"/>
                  <a:pt x="67598" y="224091"/>
                  <a:pt x="75634" y="216054"/>
                </a:cubicBezTo>
                <a:lnTo>
                  <a:pt x="200025" y="91663"/>
                </a:lnTo>
                <a:lnTo>
                  <a:pt x="204222" y="95860"/>
                </a:lnTo>
                <a:cubicBezTo>
                  <a:pt x="209803" y="101441"/>
                  <a:pt x="218867" y="101441"/>
                  <a:pt x="224448" y="95860"/>
                </a:cubicBezTo>
                <a:cubicBezTo>
                  <a:pt x="230029" y="90279"/>
                  <a:pt x="230029" y="81216"/>
                  <a:pt x="224448" y="75634"/>
                </a:cubicBezTo>
                <a:lnTo>
                  <a:pt x="153010" y="4197"/>
                </a:lnTo>
                <a:close/>
                <a:moveTo>
                  <a:pt x="91663" y="114300"/>
                </a:moveTo>
                <a:lnTo>
                  <a:pt x="157163" y="48801"/>
                </a:lnTo>
                <a:lnTo>
                  <a:pt x="179799" y="71438"/>
                </a:lnTo>
                <a:lnTo>
                  <a:pt x="136937" y="114300"/>
                </a:lnTo>
                <a:lnTo>
                  <a:pt x="91619" y="114300"/>
                </a:lnTo>
                <a:close/>
              </a:path>
            </a:pathLst>
          </a:custGeom>
          <a:solidFill>
            <a:srgbClr val="FAF8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6134100" y="5286375"/>
            <a:ext cx="273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 Results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6138863" y="5514975"/>
            <a:ext cx="2724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validation</a:t>
            </a:r>
            <a:endParaRPr lang="en-US" sz="1600" dirty="0"/>
          </a:p>
        </p:txBody>
      </p:sp>
      <p:sp>
        <p:nvSpPr>
          <p:cNvPr id="36" name="Shape 32"/>
          <p:cNvSpPr/>
          <p:nvPr/>
        </p:nvSpPr>
        <p:spPr>
          <a:xfrm>
            <a:off x="10048875" y="46767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2D5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10201275" y="48291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9423" y="102022"/>
                </a:moveTo>
                <a:cubicBezTo>
                  <a:pt x="35362" y="60499"/>
                  <a:pt x="71125" y="28575"/>
                  <a:pt x="114300" y="28575"/>
                </a:cubicBezTo>
                <a:cubicBezTo>
                  <a:pt x="137964" y="28575"/>
                  <a:pt x="159395" y="38174"/>
                  <a:pt x="174933" y="53667"/>
                </a:cubicBezTo>
                <a:cubicBezTo>
                  <a:pt x="175022" y="53757"/>
                  <a:pt x="175111" y="53846"/>
                  <a:pt x="175200" y="53935"/>
                </a:cubicBezTo>
                <a:lnTo>
                  <a:pt x="178594" y="57150"/>
                </a:lnTo>
                <a:lnTo>
                  <a:pt x="157207" y="57150"/>
                </a:lnTo>
                <a:cubicBezTo>
                  <a:pt x="149304" y="57150"/>
                  <a:pt x="142920" y="63535"/>
                  <a:pt x="142920" y="71438"/>
                </a:cubicBezTo>
                <a:cubicBezTo>
                  <a:pt x="142920" y="79340"/>
                  <a:pt x="149304" y="85725"/>
                  <a:pt x="157207" y="85725"/>
                </a:cubicBezTo>
                <a:lnTo>
                  <a:pt x="214357" y="85725"/>
                </a:lnTo>
                <a:cubicBezTo>
                  <a:pt x="222260" y="85725"/>
                  <a:pt x="228645" y="79340"/>
                  <a:pt x="228645" y="71438"/>
                </a:cubicBezTo>
                <a:lnTo>
                  <a:pt x="228645" y="14288"/>
                </a:lnTo>
                <a:cubicBezTo>
                  <a:pt x="228645" y="6385"/>
                  <a:pt x="222260" y="0"/>
                  <a:pt x="214357" y="0"/>
                </a:cubicBezTo>
                <a:cubicBezTo>
                  <a:pt x="206454" y="0"/>
                  <a:pt x="200070" y="6385"/>
                  <a:pt x="200070" y="14288"/>
                </a:cubicBezTo>
                <a:lnTo>
                  <a:pt x="200070" y="38130"/>
                </a:lnTo>
                <a:lnTo>
                  <a:pt x="195024" y="33352"/>
                </a:lnTo>
                <a:cubicBezTo>
                  <a:pt x="174352" y="12769"/>
                  <a:pt x="145777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lose/>
                <a:moveTo>
                  <a:pt x="227439" y="130597"/>
                </a:moveTo>
                <a:cubicBezTo>
                  <a:pt x="228555" y="122783"/>
                  <a:pt x="223108" y="115550"/>
                  <a:pt x="215339" y="114434"/>
                </a:cubicBezTo>
                <a:cubicBezTo>
                  <a:pt x="207571" y="113318"/>
                  <a:pt x="200293" y="118765"/>
                  <a:pt x="199177" y="126534"/>
                </a:cubicBezTo>
                <a:cubicBezTo>
                  <a:pt x="193238" y="168057"/>
                  <a:pt x="157475" y="199980"/>
                  <a:pt x="114300" y="199980"/>
                </a:cubicBezTo>
                <a:cubicBezTo>
                  <a:pt x="90636" y="199980"/>
                  <a:pt x="69205" y="190381"/>
                  <a:pt x="53667" y="174888"/>
                </a:cubicBezTo>
                <a:cubicBezTo>
                  <a:pt x="53578" y="174799"/>
                  <a:pt x="53489" y="174709"/>
                  <a:pt x="53400" y="174620"/>
                </a:cubicBezTo>
                <a:lnTo>
                  <a:pt x="50006" y="171405"/>
                </a:lnTo>
                <a:lnTo>
                  <a:pt x="71393" y="171405"/>
                </a:lnTo>
                <a:cubicBezTo>
                  <a:pt x="79296" y="171405"/>
                  <a:pt x="85680" y="165021"/>
                  <a:pt x="85680" y="157118"/>
                </a:cubicBezTo>
                <a:cubicBezTo>
                  <a:pt x="85680" y="149215"/>
                  <a:pt x="79296" y="142830"/>
                  <a:pt x="71393" y="142830"/>
                </a:cubicBezTo>
                <a:lnTo>
                  <a:pt x="14288" y="142875"/>
                </a:lnTo>
                <a:cubicBezTo>
                  <a:pt x="10492" y="142875"/>
                  <a:pt x="6831" y="144393"/>
                  <a:pt x="4152" y="147117"/>
                </a:cubicBezTo>
                <a:cubicBezTo>
                  <a:pt x="1473" y="149840"/>
                  <a:pt x="-45" y="153457"/>
                  <a:pt x="0" y="157296"/>
                </a:cubicBezTo>
                <a:lnTo>
                  <a:pt x="446" y="214000"/>
                </a:lnTo>
                <a:cubicBezTo>
                  <a:pt x="491" y="221903"/>
                  <a:pt x="6965" y="228243"/>
                  <a:pt x="14868" y="228154"/>
                </a:cubicBezTo>
                <a:cubicBezTo>
                  <a:pt x="22771" y="228064"/>
                  <a:pt x="29111" y="221635"/>
                  <a:pt x="29021" y="213732"/>
                </a:cubicBezTo>
                <a:lnTo>
                  <a:pt x="28843" y="190738"/>
                </a:lnTo>
                <a:lnTo>
                  <a:pt x="33620" y="195248"/>
                </a:lnTo>
                <a:cubicBezTo>
                  <a:pt x="54293" y="215831"/>
                  <a:pt x="82823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FAF8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8947150" y="5286375"/>
            <a:ext cx="273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3D3A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 Presentation</a:t>
            </a:r>
            <a:endParaRPr lang="en-US" sz="1600" dirty="0"/>
          </a:p>
        </p:txBody>
      </p:sp>
      <p:sp>
        <p:nvSpPr>
          <p:cNvPr id="39" name="Text 35"/>
          <p:cNvSpPr/>
          <p:nvPr/>
        </p:nvSpPr>
        <p:spPr>
          <a:xfrm>
            <a:off x="8951913" y="5514975"/>
            <a:ext cx="2724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showcase</a:t>
            </a:r>
            <a:endParaRPr lang="en-US" sz="1600" dirty="0"/>
          </a:p>
        </p:txBody>
      </p:sp>
      <p:sp>
        <p:nvSpPr>
          <p:cNvPr id="40" name="Text 36"/>
          <p:cNvSpPr/>
          <p:nvPr/>
        </p:nvSpPr>
        <p:spPr>
          <a:xfrm>
            <a:off x="333375" y="6099181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"Securing Information, One File at a Time"</a:t>
            </a:r>
            <a:endParaRPr lang="en-US" sz="1600" dirty="0"/>
          </a:p>
        </p:txBody>
      </p:sp>
      <p:sp>
        <p:nvSpPr>
          <p:cNvPr id="41" name="Text 37"/>
          <p:cNvSpPr/>
          <p:nvPr/>
        </p:nvSpPr>
        <p:spPr>
          <a:xfrm>
            <a:off x="342900" y="6442081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7A75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TALHA YASEEN | BITF24M041 | Information Security Project 2026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1163</Words>
  <Application>Microsoft Office PowerPoint</Application>
  <PresentationFormat>Widescreen</PresentationFormat>
  <Paragraphs>241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Liter</vt:lpstr>
      <vt:lpstr>微软雅黑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File Distribution System with Time-Limited Access Control</dc:title>
  <dc:subject>Secure File Distribution System with Time-Limited Access Control</dc:subject>
  <dc:creator>Kimi</dc:creator>
  <cp:lastModifiedBy>Talha Yaseen</cp:lastModifiedBy>
  <cp:revision>3</cp:revision>
  <dcterms:created xsi:type="dcterms:W3CDTF">2026-04-19T22:55:45Z</dcterms:created>
  <dcterms:modified xsi:type="dcterms:W3CDTF">2026-04-26T22:52:46Z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{"Label":"Secure File Distribution System with Time-Limited Access Control","ContentProducer":"001191110108MACG2KBH8F10000","ProduceID":"19da7eef-e832-8573-8000-0000c92452e2","ReservedCode1":"","ContentPropagator":"001191110108MACG2KBH8F20000","PropagateID":"19da7eef-e832-8573-8000-0000c92452e2","ReservedCode2":""}</vt:lpwstr>
  </property>
</Properties>
</file>